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Lst>
  <p:notesMasterIdLst>
    <p:notesMasterId r:id="rId19"/>
  </p:notesMasterIdLst>
  <p:sldIdLst>
    <p:sldId id="256" r:id="rId2"/>
    <p:sldId id="257" r:id="rId3"/>
    <p:sldId id="258" r:id="rId4"/>
    <p:sldId id="259" r:id="rId5"/>
    <p:sldId id="260" r:id="rId6"/>
    <p:sldId id="261" r:id="rId7"/>
    <p:sldId id="269" r:id="rId8"/>
    <p:sldId id="270" r:id="rId9"/>
    <p:sldId id="262" r:id="rId10"/>
    <p:sldId id="271" r:id="rId11"/>
    <p:sldId id="263" r:id="rId12"/>
    <p:sldId id="265" r:id="rId13"/>
    <p:sldId id="272" r:id="rId14"/>
    <p:sldId id="264" r:id="rId15"/>
    <p:sldId id="266" r:id="rId16"/>
    <p:sldId id="268" r:id="rId17"/>
    <p:sldId id="267" r:id="rId18"/>
  </p:sldIdLst>
  <p:sldSz cx="12192000" cy="6858000"/>
  <p:notesSz cx="6858000" cy="9144000"/>
  <p:embeddedFontLst>
    <p:embeddedFont>
      <p:font typeface="Cambria Math" panose="02040503050406030204" pitchFamily="18" charset="0"/>
      <p:regular r:id="rId20"/>
    </p:embeddedFont>
    <p:embeddedFont>
      <p:font typeface="Century Gothic" panose="020B0502020202020204" pitchFamily="34" charset="0"/>
      <p:regular r:id="rId21"/>
      <p:bold r:id="rId22"/>
      <p:italic r:id="rId23"/>
      <p:boldItalic r:id="rId24"/>
    </p:embeddedFont>
    <p:embeddedFont>
      <p:font typeface="Inter" panose="020B0604020202020204" charset="0"/>
      <p:regular r:id="rId25"/>
      <p:bold r:id="rId26"/>
      <p:italic r:id="rId27"/>
      <p:boldItalic r:id="rId28"/>
    </p:embeddedFont>
    <p:embeddedFont>
      <p:font typeface="Inter Medium" panose="020B0604020202020204" charset="0"/>
      <p:regular r:id="rId29"/>
      <p:bold r:id="rId30"/>
      <p:italic r:id="rId31"/>
      <p:boldItalic r:id="rId32"/>
    </p:embeddedFont>
    <p:embeddedFont>
      <p:font typeface="Inter SemiBold" panose="020B0604020202020204" charset="0"/>
      <p:regular r:id="rId33"/>
      <p:bold r:id="rId34"/>
      <p:italic r:id="rId35"/>
      <p:boldItalic r:id="rId36"/>
    </p:embeddedFont>
    <p:embeddedFont>
      <p:font typeface="Poppins" panose="00000500000000000000" pitchFamily="2" charset="0"/>
      <p:regular r:id="rId37"/>
      <p:bold r:id="rId38"/>
      <p:italic r:id="rId39"/>
      <p:boldItalic r:id="rId40"/>
    </p:embeddedFont>
    <p:embeddedFont>
      <p:font typeface="Wingdings 3" panose="05040102010807070707" pitchFamily="18" charset="2"/>
      <p:regular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90D18B-284C-4713-A3DA-B246837FF8A4}">
  <a:tblStyle styleId="{9B90D18B-284C-4713-A3DA-B246837FF8A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DC2C3BF7-F549-B0A6-97BB-1975CA775A71}"/>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3D310D30-E197-CC3A-914F-E4BE0570E0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a:extLst>
              <a:ext uri="{FF2B5EF4-FFF2-40B4-BE49-F238E27FC236}">
                <a16:creationId xmlns:a16="http://schemas.microsoft.com/office/drawing/2014/main" id="{980F4E57-7255-494F-5A3A-75DE29C98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27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4674EDD6-F088-324E-E4A7-B721C388BD3B}"/>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B4450080-50EE-8016-CCCE-FDECD5921A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a:extLst>
              <a:ext uri="{FF2B5EF4-FFF2-40B4-BE49-F238E27FC236}">
                <a16:creationId xmlns:a16="http://schemas.microsoft.com/office/drawing/2014/main" id="{39A269A0-4FDE-89B3-31B4-A77E239FD8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888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D19D1185-1C15-87E8-C7DD-817508290412}"/>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09D93AB7-737A-2318-D425-01CA4E192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0" name="Google Shape;150;p6:notes">
            <a:extLst>
              <a:ext uri="{FF2B5EF4-FFF2-40B4-BE49-F238E27FC236}">
                <a16:creationId xmlns:a16="http://schemas.microsoft.com/office/drawing/2014/main" id="{9167AFAC-7317-2B0B-579D-97174C128A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482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C70872E2-6F0B-C8F0-65D2-43820670FEE1}"/>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4F25E6BE-4231-27C4-4D16-6C2F96296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a:extLst>
              <a:ext uri="{FF2B5EF4-FFF2-40B4-BE49-F238E27FC236}">
                <a16:creationId xmlns:a16="http://schemas.microsoft.com/office/drawing/2014/main" id="{0403FE07-BECA-B325-0984-1D6A93C8E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665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11A70225-5543-696F-E3C6-C2ABEC0FD203}"/>
            </a:ext>
          </a:extLst>
        </p:cNvPr>
        <p:cNvGrpSpPr/>
        <p:nvPr/>
      </p:nvGrpSpPr>
      <p:grpSpPr>
        <a:xfrm>
          <a:off x="0" y="0"/>
          <a:ext cx="0" cy="0"/>
          <a:chOff x="0" y="0"/>
          <a:chExt cx="0" cy="0"/>
        </a:xfrm>
      </p:grpSpPr>
      <p:sp>
        <p:nvSpPr>
          <p:cNvPr id="232" name="Google Shape;232;p11:notes">
            <a:extLst>
              <a:ext uri="{FF2B5EF4-FFF2-40B4-BE49-F238E27FC236}">
                <a16:creationId xmlns:a16="http://schemas.microsoft.com/office/drawing/2014/main" id="{930F065F-2B7E-C6F6-809E-D734267E06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1:notes">
            <a:extLst>
              <a:ext uri="{FF2B5EF4-FFF2-40B4-BE49-F238E27FC236}">
                <a16:creationId xmlns:a16="http://schemas.microsoft.com/office/drawing/2014/main" id="{97B3D764-8DF1-7CC9-91A6-57E0FB174A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17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21156746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9157696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35762332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824054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16246219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endParaRPr lang="it-IT"/>
          </a:p>
        </p:txBody>
      </p:sp>
      <p:sp>
        <p:nvSpPr>
          <p:cNvPr id="5" name="Footer Placeholder 3"/>
          <p:cNvSpPr>
            <a:spLocks noGrp="1"/>
          </p:cNvSpPr>
          <p:nvPr>
            <p:ph type="ftr" sz="quarter" idx="11"/>
          </p:nvPr>
        </p:nvSpPr>
        <p:spPr/>
        <p:txBody>
          <a:bodyPr/>
          <a:lstStyle/>
          <a:p>
            <a:endParaRPr lang="it-IT"/>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04339730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it-IT"/>
          </a:p>
        </p:txBody>
      </p:sp>
      <p:sp>
        <p:nvSpPr>
          <p:cNvPr id="5" name="Footer Placeholder 2"/>
          <p:cNvSpPr>
            <a:spLocks noGrp="1"/>
          </p:cNvSpPr>
          <p:nvPr>
            <p:ph type="ftr" sz="quarter" idx="11"/>
          </p:nvPr>
        </p:nvSpPr>
        <p:spPr/>
        <p:txBody>
          <a:bodyPr/>
          <a:lstStyle/>
          <a:p>
            <a:endParaRPr lang="it-IT"/>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170356224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endParaRPr lang="it-IT"/>
          </a:p>
        </p:txBody>
      </p:sp>
      <p:sp>
        <p:nvSpPr>
          <p:cNvPr id="5" name="Footer Placeholder 5"/>
          <p:cNvSpPr>
            <a:spLocks noGrp="1"/>
          </p:cNvSpPr>
          <p:nvPr>
            <p:ph type="ftr" sz="quarter" idx="11"/>
          </p:nvPr>
        </p:nvSpPr>
        <p:spPr/>
        <p:txBody>
          <a:bodyPr/>
          <a:lstStyle/>
          <a:p>
            <a:endParaRPr lang="it-IT"/>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8618599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36201230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9521314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737336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5728483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8325219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it-IT"/>
          </a:p>
        </p:txBody>
      </p:sp>
      <p:sp>
        <p:nvSpPr>
          <p:cNvPr id="4"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3696228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it-IT"/>
          </a:p>
        </p:txBody>
      </p:sp>
      <p:sp>
        <p:nvSpPr>
          <p:cNvPr id="4"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10848862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66509873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11123499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it-IT"/>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it-IT"/>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641175035"/>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1.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8.jp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2786062" y="3373189"/>
            <a:ext cx="6619875" cy="1464915"/>
          </a:xfrm>
          <a:prstGeom prst="rect">
            <a:avLst/>
          </a:prstGeom>
          <a:noFill/>
          <a:ln>
            <a:noFill/>
          </a:ln>
        </p:spPr>
      </p:pic>
      <p:sp>
        <p:nvSpPr>
          <p:cNvPr id="86" name="Google Shape;86;p13"/>
          <p:cNvSpPr txBox="1"/>
          <p:nvPr/>
        </p:nvSpPr>
        <p:spPr>
          <a:xfrm>
            <a:off x="3230641" y="3620839"/>
            <a:ext cx="5730716"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2DD4BF"/>
                </a:solidFill>
                <a:latin typeface="Poppins"/>
                <a:ea typeface="Poppins"/>
                <a:cs typeface="Poppins"/>
                <a:sym typeface="Poppins"/>
              </a:rPr>
              <a:t>Federica Picca</a:t>
            </a:r>
            <a:endParaRPr/>
          </a:p>
        </p:txBody>
      </p:sp>
      <p:sp>
        <p:nvSpPr>
          <p:cNvPr id="87" name="Google Shape;87;p13"/>
          <p:cNvSpPr txBox="1"/>
          <p:nvPr/>
        </p:nvSpPr>
        <p:spPr>
          <a:xfrm>
            <a:off x="3367087" y="4011364"/>
            <a:ext cx="5457825"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dirty="0">
                <a:solidFill>
                  <a:srgbClr val="CBD5E1"/>
                </a:solidFill>
                <a:latin typeface="Inter"/>
                <a:ea typeface="Inter"/>
                <a:cs typeface="Inter"/>
                <a:sym typeface="Inter"/>
              </a:rPr>
              <a:t>Computer Science course - AI</a:t>
            </a:r>
            <a:r>
              <a:rPr lang="en-US" sz="1350" b="0" i="0" u="none" strike="noStrike" cap="none" dirty="0">
                <a:solidFill>
                  <a:srgbClr val="CBD5E1"/>
                </a:solidFill>
                <a:latin typeface="Inter"/>
                <a:ea typeface="Inter"/>
                <a:cs typeface="Inter"/>
                <a:sym typeface="Inter"/>
              </a:rPr>
              <a:t>, Univer</a:t>
            </a:r>
            <a:r>
              <a:rPr lang="en-US" sz="1350" dirty="0">
                <a:solidFill>
                  <a:srgbClr val="CBD5E1"/>
                </a:solidFill>
                <a:latin typeface="Inter"/>
                <a:ea typeface="Inter"/>
                <a:cs typeface="Inter"/>
                <a:sym typeface="Inter"/>
              </a:rPr>
              <a:t>sity of Bari Aldo Moro</a:t>
            </a:r>
          </a:p>
          <a:p>
            <a:pPr marL="0" marR="0" lvl="0" indent="0" algn="ctr" rtl="0">
              <a:lnSpc>
                <a:spcPct val="160000"/>
              </a:lnSpc>
              <a:spcBef>
                <a:spcPts val="0"/>
              </a:spcBef>
              <a:spcAft>
                <a:spcPts val="0"/>
              </a:spcAft>
              <a:buNone/>
            </a:pPr>
            <a:r>
              <a:rPr lang="en-US" sz="1350" dirty="0">
                <a:solidFill>
                  <a:srgbClr val="CBD5E1"/>
                </a:solidFill>
                <a:latin typeface="Inter"/>
                <a:ea typeface="Inter"/>
                <a:sym typeface="Inter"/>
              </a:rPr>
              <a:t>ML exam</a:t>
            </a:r>
            <a:endParaRPr dirty="0"/>
          </a:p>
        </p:txBody>
      </p:sp>
      <p:sp>
        <p:nvSpPr>
          <p:cNvPr id="93" name="Google Shape;93;p13"/>
          <p:cNvSpPr txBox="1"/>
          <p:nvPr/>
        </p:nvSpPr>
        <p:spPr>
          <a:xfrm>
            <a:off x="2935580" y="1305163"/>
            <a:ext cx="6320837" cy="1061829"/>
          </a:xfrm>
          <a:prstGeom prst="rect">
            <a:avLst/>
          </a:prstGeom>
          <a:noFill/>
          <a:ln>
            <a:noFill/>
          </a:ln>
        </p:spPr>
        <p:txBody>
          <a:bodyPr spcFirstLastPara="1" wrap="square" lIns="0" tIns="0" rIns="0" bIns="0" anchor="t" anchorCtr="0">
            <a:spAutoFit/>
          </a:bodyPr>
          <a:lstStyle/>
          <a:p>
            <a:pPr marL="0" marR="0" lvl="0" indent="0" algn="ctr" rtl="0">
              <a:lnSpc>
                <a:spcPct val="114989"/>
              </a:lnSpc>
              <a:spcBef>
                <a:spcPts val="0"/>
              </a:spcBef>
              <a:spcAft>
                <a:spcPts val="0"/>
              </a:spcAft>
              <a:buNone/>
            </a:pPr>
            <a:r>
              <a:rPr lang="en-US" sz="6000" b="1" i="0" u="none" strike="noStrike" cap="none" dirty="0" err="1">
                <a:solidFill>
                  <a:srgbClr val="FFFFFF"/>
                </a:solidFill>
                <a:latin typeface="Poppins"/>
                <a:ea typeface="Poppins"/>
                <a:cs typeface="Poppins"/>
                <a:sym typeface="Poppins"/>
              </a:rPr>
              <a:t>SafeStress</a:t>
            </a:r>
            <a:r>
              <a:rPr lang="en-US" sz="6000" b="1" i="0" u="none" strike="noStrike" cap="none" dirty="0">
                <a:solidFill>
                  <a:srgbClr val="FFFFFF"/>
                </a:solidFill>
                <a:latin typeface="Poppins"/>
                <a:ea typeface="Poppins"/>
                <a:cs typeface="Poppins"/>
                <a:sym typeface="Poppins"/>
              </a:rPr>
              <a:t>-ML</a:t>
            </a:r>
            <a:endParaRPr sz="6000" dirty="0"/>
          </a:p>
        </p:txBody>
      </p:sp>
      <p:sp>
        <p:nvSpPr>
          <p:cNvPr id="94" name="Google Shape;94;p13"/>
          <p:cNvSpPr txBox="1"/>
          <p:nvPr/>
        </p:nvSpPr>
        <p:spPr>
          <a:xfrm>
            <a:off x="1333500" y="2251323"/>
            <a:ext cx="9525000" cy="693241"/>
          </a:xfrm>
          <a:prstGeom prst="rect">
            <a:avLst/>
          </a:prstGeom>
          <a:noFill/>
          <a:ln>
            <a:noFill/>
          </a:ln>
        </p:spPr>
        <p:txBody>
          <a:bodyPr spcFirstLastPara="1" wrap="square" lIns="0" tIns="0" rIns="0" bIns="0" anchor="t" anchorCtr="0">
            <a:spAutoFit/>
          </a:bodyPr>
          <a:lstStyle/>
          <a:p>
            <a:pPr marL="0" marR="0" lvl="0" indent="0" algn="ctr" rtl="0">
              <a:lnSpc>
                <a:spcPct val="139948"/>
              </a:lnSpc>
              <a:spcBef>
                <a:spcPts val="0"/>
              </a:spcBef>
              <a:spcAft>
                <a:spcPts val="0"/>
              </a:spcAft>
              <a:buNone/>
            </a:pPr>
            <a:r>
              <a:rPr lang="en-US" sz="1950" b="0" i="0" u="none" strike="noStrike" cap="none" dirty="0">
                <a:solidFill>
                  <a:srgbClr val="94A3B8"/>
                </a:solidFill>
                <a:latin typeface="Inter"/>
                <a:ea typeface="Inter"/>
                <a:cs typeface="Inter"/>
                <a:sym typeface="Inter"/>
              </a:rPr>
              <a:t>Trustworthy Multimodal Stress Detection via Tree-Based Ensembles and Explainable AI</a:t>
            </a:r>
            <a:endParaRPr dirty="0"/>
          </a:p>
        </p:txBody>
      </p:sp>
      <p:sp>
        <p:nvSpPr>
          <p:cNvPr id="2" name="CasellaDiTesto 1">
            <a:extLst>
              <a:ext uri="{FF2B5EF4-FFF2-40B4-BE49-F238E27FC236}">
                <a16:creationId xmlns:a16="http://schemas.microsoft.com/office/drawing/2014/main" id="{34B86000-B825-B24B-31BF-F90FAD5B4212}"/>
              </a:ext>
            </a:extLst>
          </p:cNvPr>
          <p:cNvSpPr txBox="1"/>
          <p:nvPr/>
        </p:nvSpPr>
        <p:spPr>
          <a:xfrm>
            <a:off x="8573729" y="5673213"/>
            <a:ext cx="3224981" cy="523220"/>
          </a:xfrm>
          <a:prstGeom prst="rect">
            <a:avLst/>
          </a:prstGeom>
          <a:noFill/>
          <a:ln>
            <a:noFill/>
          </a:ln>
        </p:spPr>
        <p:txBody>
          <a:bodyPr wrap="square" rtlCol="0">
            <a:spAutoFit/>
          </a:bodyPr>
          <a:lstStyle/>
          <a:p>
            <a:r>
              <a:rPr lang="it-IT" sz="1400" dirty="0">
                <a:solidFill>
                  <a:srgbClr val="CBD5E1"/>
                </a:solidFill>
                <a:latin typeface="Inter"/>
                <a:ea typeface="Inter"/>
              </a:rPr>
              <a:t>Prof.ssa Claudia d’Amato &amp; </a:t>
            </a:r>
          </a:p>
          <a:p>
            <a:r>
              <a:rPr lang="it-IT" sz="1400" dirty="0">
                <a:solidFill>
                  <a:srgbClr val="CBD5E1"/>
                </a:solidFill>
                <a:latin typeface="Inter"/>
                <a:ea typeface="Inter"/>
              </a:rPr>
              <a:t>prof. Nicola Di Mauro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8"/>
        <p:cNvGrpSpPr/>
        <p:nvPr/>
      </p:nvGrpSpPr>
      <p:grpSpPr>
        <a:xfrm>
          <a:off x="0" y="0"/>
          <a:ext cx="0" cy="0"/>
          <a:chOff x="0" y="0"/>
          <a:chExt cx="0" cy="0"/>
        </a:xfrm>
      </p:grpSpPr>
      <p:pic>
        <p:nvPicPr>
          <p:cNvPr id="99" name="Google Shape;99;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0" name="Google Shape;100;p14" descr="image.png"/>
          <p:cNvPicPr preferRelativeResize="0"/>
          <p:nvPr/>
        </p:nvPicPr>
        <p:blipFill rotWithShape="1">
          <a:blip r:embed="rId4">
            <a:alphaModFix/>
          </a:blip>
          <a:srcRect/>
          <a:stretch/>
        </p:blipFill>
        <p:spPr>
          <a:xfrm>
            <a:off x="5381625" y="1473945"/>
            <a:ext cx="1428750" cy="57150"/>
          </a:xfrm>
          <a:prstGeom prst="rect">
            <a:avLst/>
          </a:prstGeom>
          <a:noFill/>
          <a:ln>
            <a:noFill/>
          </a:ln>
        </p:spPr>
      </p:pic>
      <p:sp>
        <p:nvSpPr>
          <p:cNvPr id="101" name="Google Shape;101;p14"/>
          <p:cNvSpPr txBox="1"/>
          <p:nvPr/>
        </p:nvSpPr>
        <p:spPr>
          <a:xfrm>
            <a:off x="1188258" y="290066"/>
            <a:ext cx="9481185" cy="1538883"/>
          </a:xfrm>
          <a:prstGeom prst="rect">
            <a:avLst/>
          </a:prstGeom>
          <a:noFill/>
          <a:ln>
            <a:noFill/>
          </a:ln>
        </p:spPr>
        <p:txBody>
          <a:bodyPr spcFirstLastPara="1" wrap="square" lIns="0" tIns="0" rIns="0" bIns="0" anchor="t" anchorCtr="0">
            <a:spAutoFit/>
          </a:bodyPr>
          <a:lstStyle/>
          <a:p>
            <a:pPr algn="ctr"/>
            <a:r>
              <a:rPr lang="it-IT" sz="4000" b="1" dirty="0"/>
              <a:t>The impact of stress and the </a:t>
            </a:r>
            <a:r>
              <a:rPr lang="it-IT" sz="4000" b="1" dirty="0" err="1"/>
              <a:t>need</a:t>
            </a:r>
            <a:r>
              <a:rPr lang="it-IT" sz="4000" b="1" dirty="0"/>
              <a:t> for </a:t>
            </a:r>
            <a:r>
              <a:rPr lang="it-IT" sz="4000" b="1" dirty="0" err="1"/>
              <a:t>continuous</a:t>
            </a:r>
            <a:r>
              <a:rPr lang="it-IT" sz="4000" b="1" dirty="0"/>
              <a:t> monitoring</a:t>
            </a:r>
          </a:p>
          <a:p>
            <a:pPr marL="0" marR="0" lvl="0" indent="0" algn="ctr" rtl="0">
              <a:spcBef>
                <a:spcPts val="0"/>
              </a:spcBef>
              <a:spcAft>
                <a:spcPts val="0"/>
              </a:spcAft>
              <a:buNone/>
            </a:pPr>
            <a:endParaRPr dirty="0"/>
          </a:p>
        </p:txBody>
      </p:sp>
      <p:sp>
        <p:nvSpPr>
          <p:cNvPr id="102" name="Google Shape;102;p14"/>
          <p:cNvSpPr txBox="1"/>
          <p:nvPr/>
        </p:nvSpPr>
        <p:spPr>
          <a:xfrm>
            <a:off x="659376" y="1981200"/>
            <a:ext cx="5761089" cy="2954655"/>
          </a:xfrm>
          <a:prstGeom prst="rect">
            <a:avLst/>
          </a:prstGeom>
          <a:noFill/>
          <a:ln>
            <a:noFill/>
          </a:ln>
        </p:spPr>
        <p:txBody>
          <a:bodyPr spcFirstLastPara="1" wrap="square" lIns="0" tIns="0" rIns="0" bIns="0" anchor="t" anchorCtr="0">
            <a:spAutoFit/>
          </a:bodyPr>
          <a:lstStyle/>
          <a:p>
            <a:pPr lvl="0">
              <a:lnSpc>
                <a:spcPct val="100000"/>
              </a:lnSpc>
            </a:pPr>
            <a:r>
              <a:rPr lang="en-GB" sz="1600" dirty="0">
                <a:solidFill>
                  <a:schemeClr val="tx2"/>
                </a:solidFill>
                <a:latin typeface="Inter"/>
                <a:ea typeface="Inter"/>
              </a:rPr>
              <a:t>Today, chronic psychological stress is known as one of the biggest </a:t>
            </a:r>
            <a:r>
              <a:rPr lang="en-GB" sz="1600" i="1" dirty="0">
                <a:solidFill>
                  <a:schemeClr val="tx2"/>
                </a:solidFill>
                <a:latin typeface="Inter"/>
                <a:ea typeface="Inter"/>
              </a:rPr>
              <a:t>'silent killers' </a:t>
            </a:r>
            <a:r>
              <a:rPr lang="en-GB" sz="1600" dirty="0">
                <a:solidFill>
                  <a:schemeClr val="tx2"/>
                </a:solidFill>
                <a:latin typeface="Inter"/>
                <a:ea typeface="Inter"/>
              </a:rPr>
              <a:t>of our century. It acts as a catalyst for severe heart diseases, weakens the immune system, and causes mental health disorders. In modern preventive medicine, seeing a doctor every few months is no longer enough. We need to monitor stress continuously, objectively, and without bothering the patient in their daily life.</a:t>
            </a:r>
          </a:p>
          <a:p>
            <a:pPr lvl="0">
              <a:lnSpc>
                <a:spcPct val="100000"/>
              </a:lnSpc>
            </a:pPr>
            <a:endParaRPr lang="en-GB" sz="1600" dirty="0">
              <a:solidFill>
                <a:schemeClr val="tx2"/>
              </a:solidFill>
              <a:latin typeface="Inter"/>
              <a:ea typeface="Inter"/>
            </a:endParaRPr>
          </a:p>
          <a:p>
            <a:pPr lvl="0">
              <a:lnSpc>
                <a:spcPct val="100000"/>
              </a:lnSpc>
            </a:pPr>
            <a:r>
              <a:rPr lang="en-GB" sz="1600" dirty="0">
                <a:solidFill>
                  <a:schemeClr val="tx2"/>
                </a:solidFill>
                <a:latin typeface="Inter"/>
                <a:ea typeface="Inter"/>
              </a:rPr>
              <a:t>Thanks to commercial wearable devices (like smartwatches), we can now track the responses of the Autonomic Nervous System. </a:t>
            </a:r>
            <a:endParaRPr sz="1600" dirty="0">
              <a:solidFill>
                <a:schemeClr val="tx2"/>
              </a:solidFill>
              <a:latin typeface="Inter"/>
              <a:ea typeface="Inter"/>
            </a:endParaRPr>
          </a:p>
        </p:txBody>
      </p:sp>
      <p:pic>
        <p:nvPicPr>
          <p:cNvPr id="5" name="Immagine 4">
            <a:extLst>
              <a:ext uri="{FF2B5EF4-FFF2-40B4-BE49-F238E27FC236}">
                <a16:creationId xmlns:a16="http://schemas.microsoft.com/office/drawing/2014/main" id="{36FBE850-BF5F-A09A-DC47-584408D861FC}"/>
              </a:ext>
            </a:extLst>
          </p:cNvPr>
          <p:cNvPicPr>
            <a:picLocks noChangeAspect="1"/>
          </p:cNvPicPr>
          <p:nvPr/>
        </p:nvPicPr>
        <p:blipFill>
          <a:blip r:embed="rId5"/>
          <a:stretch>
            <a:fillRect/>
          </a:stretch>
        </p:blipFill>
        <p:spPr>
          <a:xfrm>
            <a:off x="7630887" y="1981200"/>
            <a:ext cx="3439885" cy="34398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6"/>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5" descr="image.png"/>
          <p:cNvPicPr preferRelativeResize="0"/>
          <p:nvPr/>
        </p:nvPicPr>
        <p:blipFill rotWithShape="1">
          <a:blip r:embed="rId4">
            <a:alphaModFix/>
          </a:blip>
          <a:srcRect/>
          <a:stretch/>
        </p:blipFill>
        <p:spPr>
          <a:xfrm>
            <a:off x="323850" y="2023318"/>
            <a:ext cx="5191125" cy="3109121"/>
          </a:xfrm>
          <a:prstGeom prst="rect">
            <a:avLst/>
          </a:prstGeom>
          <a:noFill/>
          <a:ln>
            <a:noFill/>
          </a:ln>
        </p:spPr>
      </p:pic>
      <p:pic>
        <p:nvPicPr>
          <p:cNvPr id="109" name="Google Shape;109;p15" descr="image.png"/>
          <p:cNvPicPr preferRelativeResize="0"/>
          <p:nvPr/>
        </p:nvPicPr>
        <p:blipFill rotWithShape="1">
          <a:blip r:embed="rId5">
            <a:alphaModFix/>
          </a:blip>
          <a:srcRect/>
          <a:stretch/>
        </p:blipFill>
        <p:spPr>
          <a:xfrm>
            <a:off x="6286500" y="2023318"/>
            <a:ext cx="5191125" cy="3109121"/>
          </a:xfrm>
          <a:prstGeom prst="rect">
            <a:avLst/>
          </a:prstGeom>
          <a:noFill/>
          <a:ln>
            <a:noFill/>
          </a:ln>
        </p:spPr>
      </p:pic>
      <p:sp>
        <p:nvSpPr>
          <p:cNvPr id="110" name="Google Shape;110;p15"/>
          <p:cNvSpPr txBox="1"/>
          <p:nvPr/>
        </p:nvSpPr>
        <p:spPr>
          <a:xfrm>
            <a:off x="1104900" y="2307205"/>
            <a:ext cx="422052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a:solidFill>
                  <a:srgbClr val="0D9488"/>
                </a:solidFill>
                <a:latin typeface="Poppins"/>
                <a:ea typeface="Poppins"/>
                <a:cs typeface="Poppins"/>
                <a:sym typeface="Poppins"/>
              </a:rPr>
              <a:t>The interpretability Black Box</a:t>
            </a:r>
            <a:endParaRPr dirty="0"/>
          </a:p>
        </p:txBody>
      </p:sp>
      <p:sp>
        <p:nvSpPr>
          <p:cNvPr id="111" name="Google Shape;111;p15"/>
          <p:cNvSpPr txBox="1"/>
          <p:nvPr/>
        </p:nvSpPr>
        <p:spPr>
          <a:xfrm>
            <a:off x="781050" y="2914257"/>
            <a:ext cx="4410075" cy="1539652"/>
          </a:xfrm>
          <a:prstGeom prst="rect">
            <a:avLst/>
          </a:prstGeom>
          <a:noFill/>
          <a:ln>
            <a:noFill/>
          </a:ln>
        </p:spPr>
        <p:txBody>
          <a:bodyPr spcFirstLastPara="1" wrap="square" lIns="0" tIns="0" rIns="0" bIns="0" anchor="t" anchorCtr="0">
            <a:spAutoFit/>
          </a:bodyPr>
          <a:lstStyle/>
          <a:p>
            <a:r>
              <a:rPr lang="en-GB" sz="1425" dirty="0">
                <a:solidFill>
                  <a:srgbClr val="334155"/>
                </a:solidFill>
                <a:latin typeface="Inter"/>
                <a:ea typeface="Inter"/>
              </a:rPr>
              <a:t>Neural networks cannot explain why they make a decision. Doctors need transparency. Furthermore, recent European regulations, specifically the EU AI Act, legally require explainability for high-risk healthcare systems.</a:t>
            </a:r>
            <a:endParaRPr lang="it-IT" sz="1425" dirty="0">
              <a:solidFill>
                <a:srgbClr val="334155"/>
              </a:solidFill>
              <a:latin typeface="Inter"/>
              <a:ea typeface="Inter"/>
            </a:endParaRPr>
          </a:p>
          <a:p>
            <a:pPr marL="0" marR="0" lvl="0" indent="0" algn="l" rtl="0">
              <a:lnSpc>
                <a:spcPct val="159929"/>
              </a:lnSpc>
              <a:spcBef>
                <a:spcPts val="0"/>
              </a:spcBef>
              <a:spcAft>
                <a:spcPts val="0"/>
              </a:spcAft>
              <a:buNone/>
            </a:pPr>
            <a:endParaRPr dirty="0"/>
          </a:p>
        </p:txBody>
      </p:sp>
      <p:sp>
        <p:nvSpPr>
          <p:cNvPr id="112" name="Google Shape;112;p15"/>
          <p:cNvSpPr txBox="1"/>
          <p:nvPr/>
        </p:nvSpPr>
        <p:spPr>
          <a:xfrm>
            <a:off x="7440254" y="2231005"/>
            <a:ext cx="4190523"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a:solidFill>
                  <a:srgbClr val="0D9488"/>
                </a:solidFill>
                <a:latin typeface="Poppins"/>
                <a:ea typeface="Poppins"/>
                <a:cs typeface="Poppins"/>
                <a:sym typeface="Poppins"/>
              </a:rPr>
              <a:t>Power &amp; overfitting </a:t>
            </a:r>
            <a:r>
              <a:rPr lang="en-US" sz="2100" b="1" dirty="0">
                <a:solidFill>
                  <a:srgbClr val="0D9488"/>
                </a:solidFill>
                <a:latin typeface="Poppins"/>
                <a:ea typeface="Poppins"/>
                <a:cs typeface="Poppins"/>
                <a:sym typeface="Poppins"/>
              </a:rPr>
              <a:t>r</a:t>
            </a:r>
            <a:r>
              <a:rPr lang="en-US" sz="2100" b="1" i="0" u="none" strike="noStrike" cap="none" dirty="0">
                <a:solidFill>
                  <a:srgbClr val="0D9488"/>
                </a:solidFill>
                <a:latin typeface="Poppins"/>
                <a:ea typeface="Poppins"/>
                <a:cs typeface="Poppins"/>
                <a:sym typeface="Poppins"/>
              </a:rPr>
              <a:t>isks</a:t>
            </a:r>
            <a:endParaRPr dirty="0"/>
          </a:p>
        </p:txBody>
      </p:sp>
      <p:sp>
        <p:nvSpPr>
          <p:cNvPr id="113" name="Google Shape;113;p15"/>
          <p:cNvSpPr txBox="1"/>
          <p:nvPr/>
        </p:nvSpPr>
        <p:spPr>
          <a:xfrm>
            <a:off x="6785180" y="2761858"/>
            <a:ext cx="4410075" cy="1973617"/>
          </a:xfrm>
          <a:prstGeom prst="rect">
            <a:avLst/>
          </a:prstGeom>
          <a:noFill/>
          <a:ln>
            <a:noFill/>
          </a:ln>
        </p:spPr>
        <p:txBody>
          <a:bodyPr spcFirstLastPara="1" wrap="square" lIns="0" tIns="0" rIns="0" bIns="0" anchor="t" anchorCtr="0">
            <a:spAutoFit/>
          </a:bodyPr>
          <a:lstStyle/>
          <a:p>
            <a:pPr lvl="0"/>
            <a:r>
              <a:rPr lang="en-GB" sz="1425" dirty="0">
                <a:solidFill>
                  <a:srgbClr val="334155"/>
                </a:solidFill>
                <a:latin typeface="Inter"/>
                <a:ea typeface="Inter"/>
              </a:rPr>
              <a:t>Neural networks have massive numbers of parameters. They drain smartwatch batteries very quickly, making them useless for continuous, all-day monitoring. </a:t>
            </a:r>
          </a:p>
          <a:p>
            <a:pPr lvl="0"/>
            <a:r>
              <a:rPr lang="en-GB" sz="1425" dirty="0">
                <a:solidFill>
                  <a:srgbClr val="334155"/>
                </a:solidFill>
                <a:latin typeface="Inter"/>
                <a:ea typeface="Inter"/>
              </a:rPr>
              <a:t>Many published studies normalize all the data globally or mix all the data randomly. Because of this, the AI simply 'memorizes' the biological traits of specific people, rather than learning the true, universal patterns of stress.</a:t>
            </a:r>
            <a:endParaRPr sz="1425" dirty="0">
              <a:solidFill>
                <a:srgbClr val="334155"/>
              </a:solidFill>
              <a:latin typeface="Inter"/>
              <a:ea typeface="Inter"/>
            </a:endParaRPr>
          </a:p>
        </p:txBody>
      </p:sp>
      <p:pic>
        <p:nvPicPr>
          <p:cNvPr id="114" name="Google Shape;114;p15" descr="image.png"/>
          <p:cNvPicPr preferRelativeResize="0"/>
          <p:nvPr/>
        </p:nvPicPr>
        <p:blipFill rotWithShape="1">
          <a:blip r:embed="rId6">
            <a:alphaModFix/>
          </a:blip>
          <a:srcRect/>
          <a:stretch/>
        </p:blipFill>
        <p:spPr>
          <a:xfrm>
            <a:off x="657225" y="2344963"/>
            <a:ext cx="247650" cy="247650"/>
          </a:xfrm>
          <a:prstGeom prst="rect">
            <a:avLst/>
          </a:prstGeom>
          <a:noFill/>
          <a:ln>
            <a:noFill/>
          </a:ln>
        </p:spPr>
      </p:pic>
      <p:pic>
        <p:nvPicPr>
          <p:cNvPr id="115" name="Google Shape;115;p15" descr="image.png"/>
          <p:cNvPicPr preferRelativeResize="0"/>
          <p:nvPr/>
        </p:nvPicPr>
        <p:blipFill rotWithShape="1">
          <a:blip r:embed="rId7">
            <a:alphaModFix/>
          </a:blip>
          <a:srcRect/>
          <a:stretch/>
        </p:blipFill>
        <p:spPr>
          <a:xfrm>
            <a:off x="6916379" y="2268763"/>
            <a:ext cx="276225" cy="247650"/>
          </a:xfrm>
          <a:prstGeom prst="rect">
            <a:avLst/>
          </a:prstGeom>
          <a:noFill/>
          <a:ln>
            <a:noFill/>
          </a:ln>
        </p:spPr>
      </p:pic>
      <p:sp>
        <p:nvSpPr>
          <p:cNvPr id="116" name="Google Shape;116;p15"/>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err="1">
                <a:solidFill>
                  <a:srgbClr val="0F172A"/>
                </a:solidFill>
                <a:latin typeface="Poppins"/>
                <a:cs typeface="Poppins"/>
              </a:rPr>
              <a:t>Problems</a:t>
            </a:r>
            <a:r>
              <a:rPr lang="it-IT" sz="3150" b="1" dirty="0">
                <a:solidFill>
                  <a:srgbClr val="0F172A"/>
                </a:solidFill>
                <a:latin typeface="Poppins"/>
                <a:cs typeface="Poppins"/>
              </a:rPr>
              <a:t> of Deep Learning </a:t>
            </a:r>
            <a:r>
              <a:rPr lang="it-IT" sz="3150" b="1" dirty="0" err="1">
                <a:solidFill>
                  <a:srgbClr val="0F172A"/>
                </a:solidFill>
                <a:latin typeface="Poppins"/>
                <a:cs typeface="Poppins"/>
              </a:rPr>
              <a:t>paradigms</a:t>
            </a:r>
            <a:endParaRPr lang="it-IT" sz="3150" b="1" dirty="0">
              <a:solidFill>
                <a:srgbClr val="0F172A"/>
              </a:solidFill>
              <a:latin typeface="Poppins"/>
              <a:cs typeface="Poppins"/>
            </a:endParaRPr>
          </a:p>
          <a:p>
            <a:pPr marL="0" marR="0" lvl="0" indent="0" algn="l" rtl="0">
              <a:lnSpc>
                <a:spcPct val="110000"/>
              </a:lnSpc>
              <a:spcBef>
                <a:spcPts val="0"/>
              </a:spcBef>
              <a:spcAft>
                <a:spcPts val="0"/>
              </a:spcAft>
              <a:buNone/>
            </a:pPr>
            <a:endParaRPr lang="en-US" dirty="0"/>
          </a:p>
        </p:txBody>
      </p:sp>
      <p:sp>
        <p:nvSpPr>
          <p:cNvPr id="2" name="CasellaDiTesto 1">
            <a:extLst>
              <a:ext uri="{FF2B5EF4-FFF2-40B4-BE49-F238E27FC236}">
                <a16:creationId xmlns:a16="http://schemas.microsoft.com/office/drawing/2014/main" id="{58010E3B-20D0-33CB-30A9-2672FE92BB1E}"/>
              </a:ext>
            </a:extLst>
          </p:cNvPr>
          <p:cNvSpPr txBox="1"/>
          <p:nvPr/>
        </p:nvSpPr>
        <p:spPr>
          <a:xfrm>
            <a:off x="616272" y="1379555"/>
            <a:ext cx="11340456" cy="311624"/>
          </a:xfrm>
          <a:prstGeom prst="rect">
            <a:avLst/>
          </a:prstGeom>
          <a:noFill/>
        </p:spPr>
        <p:txBody>
          <a:bodyPr wrap="square" rtlCol="0">
            <a:spAutoFit/>
          </a:bodyPr>
          <a:lstStyle/>
          <a:p>
            <a:r>
              <a:rPr lang="it-IT" sz="1425" dirty="0">
                <a:solidFill>
                  <a:srgbClr val="334155"/>
                </a:solidFill>
                <a:latin typeface="Inter"/>
                <a:ea typeface="Inter"/>
              </a:rPr>
              <a:t>Deep Learning </a:t>
            </a:r>
            <a:r>
              <a:rPr lang="it-IT" sz="1425" dirty="0" err="1">
                <a:solidFill>
                  <a:srgbClr val="334155"/>
                </a:solidFill>
                <a:latin typeface="Inter"/>
                <a:ea typeface="Inter"/>
              </a:rPr>
              <a:t>paradigms</a:t>
            </a:r>
            <a:r>
              <a:rPr lang="it-IT" sz="1425" dirty="0">
                <a:solidFill>
                  <a:srgbClr val="334155"/>
                </a:solidFill>
                <a:latin typeface="Inter"/>
                <a:ea typeface="Inter"/>
              </a:rPr>
              <a:t> </a:t>
            </a:r>
            <a:r>
              <a:rPr lang="it-IT" sz="1425" dirty="0" err="1">
                <a:solidFill>
                  <a:srgbClr val="334155"/>
                </a:solidFill>
                <a:latin typeface="Inter"/>
                <a:ea typeface="Inter"/>
              </a:rPr>
              <a:t>present</a:t>
            </a:r>
            <a:r>
              <a:rPr lang="it-IT" sz="1425" dirty="0">
                <a:solidFill>
                  <a:srgbClr val="334155"/>
                </a:solidFill>
                <a:latin typeface="Inter"/>
                <a:ea typeface="Inter"/>
              </a:rPr>
              <a:t> some </a:t>
            </a:r>
            <a:r>
              <a:rPr lang="it-IT" sz="1425" dirty="0" err="1">
                <a:solidFill>
                  <a:srgbClr val="334155"/>
                </a:solidFill>
                <a:latin typeface="Inter"/>
                <a:ea typeface="Inter"/>
              </a:rPr>
              <a:t>critical</a:t>
            </a:r>
            <a:r>
              <a:rPr lang="it-IT" sz="1425" dirty="0">
                <a:solidFill>
                  <a:srgbClr val="334155"/>
                </a:solidFill>
                <a:latin typeface="Inter"/>
                <a:ea typeface="Inter"/>
              </a:rPr>
              <a:t> challenges for wearable </a:t>
            </a:r>
            <a:r>
              <a:rPr lang="it-IT" sz="1425" dirty="0" err="1">
                <a:solidFill>
                  <a:srgbClr val="334155"/>
                </a:solidFill>
                <a:latin typeface="Inter"/>
                <a:ea typeface="Inter"/>
              </a:rPr>
              <a:t>healthcare</a:t>
            </a:r>
            <a:r>
              <a:rPr lang="it-IT" sz="1425" dirty="0">
                <a:solidFill>
                  <a:srgbClr val="334155"/>
                </a:solidFill>
                <a:latin typeface="Inter"/>
                <a:ea typeface="Inter"/>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a:picLocks/>
          </p:cNvPicPr>
          <p:nvPr/>
        </p:nvPicPr>
        <p:blipFill rotWithShape="1">
          <a:blip r:embed="rId3">
            <a:alphaModFix/>
          </a:blip>
          <a:srcRect/>
          <a:stretch/>
        </p:blipFill>
        <p:spPr>
          <a:xfrm>
            <a:off x="0" y="0"/>
            <a:ext cx="12192000" cy="6858000"/>
          </a:xfrm>
          <a:prstGeom prst="rect">
            <a:avLst/>
          </a:prstGeom>
          <a:noFill/>
          <a:ln>
            <a:noFill/>
          </a:ln>
        </p:spPr>
      </p:pic>
      <p:pic>
        <p:nvPicPr>
          <p:cNvPr id="123" name="Google Shape;123;p16" descr="image.png"/>
          <p:cNvPicPr preferRelativeResize="0"/>
          <p:nvPr/>
        </p:nvPicPr>
        <p:blipFill rotWithShape="1">
          <a:blip r:embed="rId4">
            <a:alphaModFix/>
          </a:blip>
          <a:srcRect/>
          <a:stretch/>
        </p:blipFill>
        <p:spPr>
          <a:xfrm>
            <a:off x="6848475" y="1958131"/>
            <a:ext cx="4629150" cy="3619500"/>
          </a:xfrm>
          <a:prstGeom prst="rect">
            <a:avLst/>
          </a:prstGeom>
          <a:noFill/>
          <a:ln>
            <a:noFill/>
          </a:ln>
        </p:spPr>
      </p:pic>
      <p:sp>
        <p:nvSpPr>
          <p:cNvPr id="124" name="Google Shape;124;p16"/>
          <p:cNvSpPr txBox="1">
            <a:spLocks/>
          </p:cNvSpPr>
          <p:nvPr/>
        </p:nvSpPr>
        <p:spPr>
          <a:xfrm>
            <a:off x="1203837" y="2633386"/>
            <a:ext cx="5550924" cy="4171142"/>
          </a:xfrm>
          <a:prstGeom prst="rect">
            <a:avLst/>
          </a:prstGeom>
          <a:noFill/>
          <a:ln>
            <a:noFill/>
          </a:ln>
        </p:spPr>
        <p:txBody>
          <a:bodyPr spcFirstLastPara="1" wrap="square" lIns="0" tIns="0" rIns="0" bIns="0" anchor="t" anchorCtr="0">
            <a:spAutoFit/>
          </a:bodyPr>
          <a:lstStyle/>
          <a:p>
            <a:r>
              <a:rPr lang="en-GB" sz="1425" dirty="0">
                <a:solidFill>
                  <a:srgbClr val="334155"/>
                </a:solidFill>
                <a:latin typeface="Inter"/>
                <a:ea typeface="Inter"/>
              </a:rPr>
              <a:t>To guarantee maximum clinical reliability, my system is built on three pillars:</a:t>
            </a:r>
          </a:p>
          <a:p>
            <a:endParaRPr lang="it-IT" sz="1425" dirty="0">
              <a:solidFill>
                <a:srgbClr val="334155"/>
              </a:solidFill>
              <a:latin typeface="Inter"/>
              <a:ea typeface="Inter"/>
            </a:endParaRPr>
          </a:p>
          <a:p>
            <a:pPr lvl="0"/>
            <a:r>
              <a:rPr lang="en-GB" sz="1425" b="1" dirty="0">
                <a:solidFill>
                  <a:srgbClr val="334155"/>
                </a:solidFill>
                <a:latin typeface="Inter"/>
                <a:ea typeface="Inter"/>
              </a:rPr>
              <a:t>Subject-Wise Normalization: t</a:t>
            </a:r>
            <a:r>
              <a:rPr lang="en-GB" sz="1425" dirty="0">
                <a:solidFill>
                  <a:srgbClr val="334155"/>
                </a:solidFill>
                <a:latin typeface="Inter"/>
                <a:ea typeface="Inter"/>
              </a:rPr>
              <a:t>o cancel out the individual genetic differences between people.</a:t>
            </a:r>
          </a:p>
          <a:p>
            <a:pPr lvl="0"/>
            <a:endParaRPr lang="en-GB" sz="1425" dirty="0">
              <a:solidFill>
                <a:srgbClr val="334155"/>
              </a:solidFill>
              <a:latin typeface="Inter"/>
              <a:ea typeface="Inter"/>
            </a:endParaRPr>
          </a:p>
          <a:p>
            <a:pPr lvl="0"/>
            <a:endParaRPr lang="en-GB" sz="1425" dirty="0">
              <a:solidFill>
                <a:srgbClr val="334155"/>
              </a:solidFill>
              <a:latin typeface="Inter"/>
              <a:ea typeface="Inter"/>
            </a:endParaRPr>
          </a:p>
          <a:p>
            <a:pPr lvl="0"/>
            <a:endParaRPr lang="it-IT" sz="1425" dirty="0">
              <a:solidFill>
                <a:srgbClr val="334155"/>
              </a:solidFill>
              <a:latin typeface="Inter"/>
              <a:ea typeface="Inter"/>
            </a:endParaRPr>
          </a:p>
          <a:p>
            <a:pPr lvl="0"/>
            <a:r>
              <a:rPr lang="en-GB" sz="1425" b="1" dirty="0">
                <a:solidFill>
                  <a:srgbClr val="334155"/>
                </a:solidFill>
                <a:latin typeface="Inter"/>
                <a:ea typeface="Inter"/>
              </a:rPr>
              <a:t>15-fold Leave-One-Subject-Out (LOSO) Validation: t</a:t>
            </a:r>
            <a:r>
              <a:rPr lang="en-GB" sz="1425" dirty="0">
                <a:solidFill>
                  <a:srgbClr val="334155"/>
                </a:solidFill>
                <a:latin typeface="Inter"/>
                <a:ea typeface="Inter"/>
              </a:rPr>
              <a:t>o guarantee that the model works on brand-new patients it has never seen before.</a:t>
            </a:r>
          </a:p>
          <a:p>
            <a:pPr lvl="0"/>
            <a:endParaRPr lang="en-GB" sz="1425" dirty="0">
              <a:solidFill>
                <a:srgbClr val="334155"/>
              </a:solidFill>
              <a:latin typeface="Inter"/>
              <a:ea typeface="Inter"/>
            </a:endParaRPr>
          </a:p>
          <a:p>
            <a:pPr lvl="0"/>
            <a:endParaRPr lang="en-GB" sz="1425" dirty="0">
              <a:solidFill>
                <a:srgbClr val="334155"/>
              </a:solidFill>
              <a:latin typeface="Inter"/>
              <a:ea typeface="Inter"/>
            </a:endParaRPr>
          </a:p>
          <a:p>
            <a:pPr lvl="0"/>
            <a:endParaRPr lang="it-IT" sz="1425" dirty="0">
              <a:solidFill>
                <a:srgbClr val="334155"/>
              </a:solidFill>
              <a:latin typeface="Inter"/>
              <a:ea typeface="Inter"/>
            </a:endParaRPr>
          </a:p>
          <a:p>
            <a:pPr lvl="0"/>
            <a:r>
              <a:rPr lang="en-GB" sz="1425" b="1" dirty="0">
                <a:solidFill>
                  <a:srgbClr val="334155"/>
                </a:solidFill>
                <a:latin typeface="Inter"/>
                <a:ea typeface="Inter"/>
              </a:rPr>
              <a:t>Explainable AI using </a:t>
            </a:r>
            <a:r>
              <a:rPr lang="en-GB" sz="1425" b="1" dirty="0" err="1">
                <a:solidFill>
                  <a:srgbClr val="334155"/>
                </a:solidFill>
                <a:latin typeface="Inter"/>
                <a:ea typeface="Inter"/>
              </a:rPr>
              <a:t>TreeSHAP</a:t>
            </a:r>
            <a:r>
              <a:rPr lang="en-GB" sz="1425" b="1" dirty="0">
                <a:solidFill>
                  <a:srgbClr val="334155"/>
                </a:solidFill>
                <a:latin typeface="Inter"/>
                <a:ea typeface="Inter"/>
              </a:rPr>
              <a:t>: t</a:t>
            </a:r>
            <a:r>
              <a:rPr lang="en-GB" sz="1425" dirty="0">
                <a:solidFill>
                  <a:srgbClr val="334155"/>
                </a:solidFill>
                <a:latin typeface="Inter"/>
                <a:ea typeface="Inter"/>
              </a:rPr>
              <a:t>o translate every mathematical alarm into a clear, physiological explanation for the doctor.</a:t>
            </a:r>
            <a:endParaRPr lang="it-IT" sz="1425" dirty="0">
              <a:solidFill>
                <a:srgbClr val="334155"/>
              </a:solidFill>
              <a:latin typeface="Inter"/>
              <a:ea typeface="Inter"/>
            </a:endParaRPr>
          </a:p>
          <a:p>
            <a:pPr marL="0" marR="0" lvl="0" indent="0" algn="l" rtl="0">
              <a:lnSpc>
                <a:spcPct val="160000"/>
              </a:lnSpc>
              <a:spcBef>
                <a:spcPts val="0"/>
              </a:spcBef>
              <a:spcAft>
                <a:spcPts val="0"/>
              </a:spcAft>
              <a:buNone/>
            </a:pPr>
            <a:endParaRPr dirty="0"/>
          </a:p>
        </p:txBody>
      </p:sp>
      <p:pic>
        <p:nvPicPr>
          <p:cNvPr id="125" name="Google Shape;125;p16" descr="image.png"/>
          <p:cNvPicPr preferRelativeResize="0"/>
          <p:nvPr/>
        </p:nvPicPr>
        <p:blipFill rotWithShape="1">
          <a:blip r:embed="rId5">
            <a:alphaModFix/>
          </a:blip>
          <a:srcRect/>
          <a:stretch/>
        </p:blipFill>
        <p:spPr>
          <a:xfrm>
            <a:off x="7048500" y="2158156"/>
            <a:ext cx="4229100" cy="3219450"/>
          </a:xfrm>
          <a:prstGeom prst="rect">
            <a:avLst/>
          </a:prstGeom>
          <a:noFill/>
          <a:ln>
            <a:noFill/>
          </a:ln>
        </p:spPr>
      </p:pic>
      <p:sp>
        <p:nvSpPr>
          <p:cNvPr id="129" name="Google Shape;129;p16"/>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a:solidFill>
                  <a:srgbClr val="0F172A"/>
                </a:solidFill>
                <a:latin typeface="Poppins"/>
                <a:ea typeface="Poppins"/>
                <a:cs typeface="Poppins"/>
                <a:sym typeface="Poppins"/>
              </a:rPr>
              <a:t>The </a:t>
            </a:r>
            <a:r>
              <a:rPr lang="en-US" sz="3150" b="1" i="0" u="none" strike="noStrike" cap="none" dirty="0" err="1">
                <a:solidFill>
                  <a:srgbClr val="0F172A"/>
                </a:solidFill>
                <a:latin typeface="Poppins"/>
                <a:ea typeface="Poppins"/>
                <a:cs typeface="Poppins"/>
                <a:sym typeface="Poppins"/>
              </a:rPr>
              <a:t>SafeStress</a:t>
            </a:r>
            <a:r>
              <a:rPr lang="en-US" sz="3150" b="1" i="0" u="none" strike="noStrike" cap="none" dirty="0">
                <a:solidFill>
                  <a:srgbClr val="0F172A"/>
                </a:solidFill>
                <a:latin typeface="Poppins"/>
                <a:ea typeface="Poppins"/>
                <a:cs typeface="Poppins"/>
                <a:sym typeface="Poppins"/>
              </a:rPr>
              <a:t>-ML solution</a:t>
            </a:r>
            <a:endParaRPr dirty="0"/>
          </a:p>
        </p:txBody>
      </p:sp>
      <p:pic>
        <p:nvPicPr>
          <p:cNvPr id="131" name="Google Shape;131;p16" descr="image.png"/>
          <p:cNvPicPr preferRelativeResize="0">
            <a:picLocks/>
          </p:cNvPicPr>
          <p:nvPr/>
        </p:nvPicPr>
        <p:blipFill rotWithShape="1">
          <a:blip r:embed="rId6">
            <a:alphaModFix/>
          </a:blip>
          <a:srcRect/>
          <a:stretch/>
        </p:blipFill>
        <p:spPr>
          <a:xfrm>
            <a:off x="727587" y="3356606"/>
            <a:ext cx="209550" cy="219075"/>
          </a:xfrm>
          <a:prstGeom prst="rect">
            <a:avLst/>
          </a:prstGeom>
          <a:noFill/>
          <a:ln>
            <a:noFill/>
          </a:ln>
        </p:spPr>
      </p:pic>
      <p:pic>
        <p:nvPicPr>
          <p:cNvPr id="132" name="Google Shape;132;p16" descr="image.png"/>
          <p:cNvPicPr preferRelativeResize="0">
            <a:picLocks/>
          </p:cNvPicPr>
          <p:nvPr/>
        </p:nvPicPr>
        <p:blipFill rotWithShape="1">
          <a:blip r:embed="rId6">
            <a:alphaModFix/>
          </a:blip>
          <a:srcRect/>
          <a:stretch/>
        </p:blipFill>
        <p:spPr>
          <a:xfrm>
            <a:off x="714375" y="4439397"/>
            <a:ext cx="209550" cy="219075"/>
          </a:xfrm>
          <a:prstGeom prst="rect">
            <a:avLst/>
          </a:prstGeom>
          <a:noFill/>
          <a:ln>
            <a:noFill/>
          </a:ln>
        </p:spPr>
      </p:pic>
      <p:pic>
        <p:nvPicPr>
          <p:cNvPr id="133" name="Google Shape;133;p16" descr="image.png"/>
          <p:cNvPicPr preferRelativeResize="0">
            <a:picLocks/>
          </p:cNvPicPr>
          <p:nvPr/>
        </p:nvPicPr>
        <p:blipFill rotWithShape="1">
          <a:blip r:embed="rId6">
            <a:alphaModFix/>
          </a:blip>
          <a:srcRect/>
          <a:stretch/>
        </p:blipFill>
        <p:spPr>
          <a:xfrm>
            <a:off x="714375" y="5708549"/>
            <a:ext cx="209550" cy="219075"/>
          </a:xfrm>
          <a:prstGeom prst="rect">
            <a:avLst/>
          </a:prstGeom>
          <a:noFill/>
          <a:ln>
            <a:noFill/>
          </a:ln>
        </p:spPr>
      </p:pic>
      <p:sp>
        <p:nvSpPr>
          <p:cNvPr id="2" name="CasellaDiTesto 1">
            <a:extLst>
              <a:ext uri="{FF2B5EF4-FFF2-40B4-BE49-F238E27FC236}">
                <a16:creationId xmlns:a16="http://schemas.microsoft.com/office/drawing/2014/main" id="{D8C21B7A-6523-F929-DA85-3BFBA80C414D}"/>
              </a:ext>
            </a:extLst>
          </p:cNvPr>
          <p:cNvSpPr txBox="1"/>
          <p:nvPr/>
        </p:nvSpPr>
        <p:spPr>
          <a:xfrm>
            <a:off x="714375" y="1244218"/>
            <a:ext cx="8154322" cy="311624"/>
          </a:xfrm>
          <a:prstGeom prst="rect">
            <a:avLst/>
          </a:prstGeom>
          <a:noFill/>
        </p:spPr>
        <p:txBody>
          <a:bodyPr wrap="square" rtlCol="0">
            <a:spAutoFit/>
          </a:bodyPr>
          <a:lstStyle/>
          <a:p>
            <a:r>
              <a:rPr lang="it-IT" sz="1425" dirty="0">
                <a:solidFill>
                  <a:srgbClr val="334155"/>
                </a:solidFill>
                <a:latin typeface="Inter"/>
                <a:ea typeface="Inter"/>
              </a:rPr>
              <a:t>To solve </a:t>
            </a:r>
            <a:r>
              <a:rPr lang="it-IT" sz="1425" dirty="0" err="1">
                <a:solidFill>
                  <a:srgbClr val="334155"/>
                </a:solidFill>
                <a:latin typeface="Inter"/>
                <a:ea typeface="Inter"/>
              </a:rPr>
              <a:t>these</a:t>
            </a:r>
            <a:r>
              <a:rPr lang="it-IT" sz="1425" dirty="0">
                <a:solidFill>
                  <a:srgbClr val="334155"/>
                </a:solidFill>
                <a:latin typeface="Inter"/>
                <a:ea typeface="Inter"/>
              </a:rPr>
              <a:t> </a:t>
            </a:r>
            <a:r>
              <a:rPr lang="it-IT" sz="1425" dirty="0" err="1">
                <a:solidFill>
                  <a:srgbClr val="334155"/>
                </a:solidFill>
                <a:latin typeface="Inter"/>
                <a:ea typeface="Inter"/>
              </a:rPr>
              <a:t>critical</a:t>
            </a:r>
            <a:r>
              <a:rPr lang="it-IT" sz="1425" dirty="0">
                <a:solidFill>
                  <a:srgbClr val="334155"/>
                </a:solidFill>
                <a:latin typeface="Inter"/>
                <a:ea typeface="Inter"/>
              </a:rPr>
              <a:t> </a:t>
            </a:r>
            <a:r>
              <a:rPr lang="it-IT" sz="1425" dirty="0" err="1">
                <a:solidFill>
                  <a:srgbClr val="334155"/>
                </a:solidFill>
                <a:latin typeface="Inter"/>
                <a:ea typeface="Inter"/>
              </a:rPr>
              <a:t>issues</a:t>
            </a:r>
            <a:r>
              <a:rPr lang="it-IT" sz="1425" dirty="0">
                <a:solidFill>
                  <a:srgbClr val="334155"/>
                </a:solidFill>
                <a:latin typeface="Inter"/>
                <a:ea typeface="Inter"/>
              </a:rPr>
              <a:t>, I introduce </a:t>
            </a:r>
            <a:r>
              <a:rPr lang="it-IT" sz="1425" dirty="0" err="1">
                <a:solidFill>
                  <a:srgbClr val="334155"/>
                </a:solidFill>
                <a:latin typeface="Inter"/>
                <a:ea typeface="Inter"/>
              </a:rPr>
              <a:t>SafeStress</a:t>
            </a:r>
            <a:r>
              <a:rPr lang="it-IT" sz="1425" dirty="0">
                <a:solidFill>
                  <a:srgbClr val="334155"/>
                </a:solidFill>
                <a:latin typeface="Inter"/>
                <a:ea typeface="Inter"/>
              </a:rPr>
              <a:t>-ML. </a:t>
            </a:r>
            <a:r>
              <a:rPr lang="en-GB" sz="1425" dirty="0">
                <a:solidFill>
                  <a:srgbClr val="334155"/>
                </a:solidFill>
                <a:latin typeface="Inter"/>
                <a:ea typeface="Inter"/>
              </a:rPr>
              <a:t>It avoids heavy neural networks.</a:t>
            </a:r>
            <a:r>
              <a:rPr lang="it-IT" sz="1425" dirty="0">
                <a:solidFill>
                  <a:srgbClr val="334155"/>
                </a:solidFill>
                <a:latin typeface="Inter"/>
                <a:ea typeface="Inter"/>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9" name="Google Shape;139;p17" descr="image.png"/>
          <p:cNvPicPr preferRelativeResize="0"/>
          <p:nvPr/>
        </p:nvPicPr>
        <p:blipFill rotWithShape="1">
          <a:blip r:embed="rId4">
            <a:alphaModFix/>
          </a:blip>
          <a:srcRect/>
          <a:stretch/>
        </p:blipFill>
        <p:spPr>
          <a:xfrm>
            <a:off x="1231999" y="2196405"/>
            <a:ext cx="3143250" cy="3143250"/>
          </a:xfrm>
          <a:prstGeom prst="rect">
            <a:avLst/>
          </a:prstGeom>
          <a:noFill/>
          <a:ln>
            <a:noFill/>
          </a:ln>
        </p:spPr>
      </p:pic>
      <p:pic>
        <p:nvPicPr>
          <p:cNvPr id="140" name="Google Shape;140;p17" descr="image.png"/>
          <p:cNvPicPr preferRelativeResize="0"/>
          <p:nvPr/>
        </p:nvPicPr>
        <p:blipFill rotWithShape="1">
          <a:blip r:embed="rId5">
            <a:alphaModFix/>
          </a:blip>
          <a:srcRect/>
          <a:stretch/>
        </p:blipFill>
        <p:spPr>
          <a:xfrm>
            <a:off x="1308199" y="2272605"/>
            <a:ext cx="2990850" cy="2990850"/>
          </a:xfrm>
          <a:prstGeom prst="rect">
            <a:avLst/>
          </a:prstGeom>
          <a:noFill/>
          <a:ln>
            <a:noFill/>
          </a:ln>
        </p:spPr>
      </p:pic>
      <p:sp>
        <p:nvSpPr>
          <p:cNvPr id="141" name="Google Shape;141;p17"/>
          <p:cNvSpPr txBox="1"/>
          <p:nvPr/>
        </p:nvSpPr>
        <p:spPr>
          <a:xfrm>
            <a:off x="5464373" y="2096392"/>
            <a:ext cx="6313914"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err="1">
                <a:solidFill>
                  <a:srgbClr val="0D9488"/>
                </a:solidFill>
                <a:latin typeface="Poppins"/>
                <a:ea typeface="Poppins"/>
                <a:cs typeface="Poppins"/>
                <a:sym typeface="Poppins"/>
              </a:rPr>
              <a:t>Empatica</a:t>
            </a:r>
            <a:r>
              <a:rPr lang="en-US" sz="2100" b="1" i="0" u="none" strike="noStrike" cap="none" dirty="0">
                <a:solidFill>
                  <a:srgbClr val="0D9488"/>
                </a:solidFill>
                <a:latin typeface="Poppins"/>
                <a:ea typeface="Poppins"/>
                <a:cs typeface="Poppins"/>
                <a:sym typeface="Poppins"/>
              </a:rPr>
              <a:t> E4 Sensory Stream</a:t>
            </a:r>
            <a:endParaRPr dirty="0"/>
          </a:p>
        </p:txBody>
      </p:sp>
      <p:sp>
        <p:nvSpPr>
          <p:cNvPr id="142" name="Google Shape;142;p17"/>
          <p:cNvSpPr txBox="1"/>
          <p:nvPr/>
        </p:nvSpPr>
        <p:spPr>
          <a:xfrm>
            <a:off x="5464373" y="2639317"/>
            <a:ext cx="6013251"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34155"/>
                </a:solidFill>
                <a:latin typeface="Inter"/>
                <a:ea typeface="Inter"/>
                <a:cs typeface="Inter"/>
                <a:sym typeface="Inter"/>
              </a:rPr>
              <a:t>WESAD dataset benchmark evaluating physiological reactions of 15 subjects under acute stress (Trier Social Stress Test):</a:t>
            </a:r>
            <a:endParaRPr dirty="0"/>
          </a:p>
        </p:txBody>
      </p:sp>
      <p:sp>
        <p:nvSpPr>
          <p:cNvPr id="143" name="Google Shape;143;p17"/>
          <p:cNvSpPr txBox="1"/>
          <p:nvPr/>
        </p:nvSpPr>
        <p:spPr>
          <a:xfrm>
            <a:off x="5464373" y="3538351"/>
            <a:ext cx="6013251"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 </a:t>
            </a:r>
            <a:r>
              <a:rPr lang="en-US" sz="1500" b="1" i="0" u="none" strike="noStrike" cap="none" dirty="0">
                <a:solidFill>
                  <a:srgbClr val="0F172A"/>
                </a:solidFill>
                <a:latin typeface="Inter SemiBold"/>
                <a:ea typeface="Inter SemiBold"/>
                <a:cs typeface="Inter SemiBold"/>
                <a:sym typeface="Inter SemiBold"/>
              </a:rPr>
              <a:t>Electrodermal Activity (EDA):</a:t>
            </a:r>
            <a:r>
              <a:rPr lang="en-US" sz="1500" b="1" i="0" u="none" strike="noStrike" cap="none" dirty="0">
                <a:solidFill>
                  <a:srgbClr val="334155"/>
                </a:solidFill>
                <a:latin typeface="Inter"/>
                <a:ea typeface="Inter"/>
                <a:cs typeface="Inter"/>
                <a:sym typeface="Inter"/>
              </a:rPr>
              <a:t> </a:t>
            </a:r>
            <a:r>
              <a:rPr lang="en-US" sz="1500" b="0" i="0" u="none" strike="noStrike" cap="none" dirty="0">
                <a:solidFill>
                  <a:srgbClr val="334155"/>
                </a:solidFill>
                <a:latin typeface="Inter"/>
                <a:ea typeface="Inter"/>
                <a:cs typeface="Inter"/>
                <a:sym typeface="Inter"/>
              </a:rPr>
              <a:t>logged at 4 Hz to monitor skin conductance sympathetic reactions.</a:t>
            </a:r>
          </a:p>
          <a:p>
            <a:pPr marL="0" marR="0" lvl="0" indent="0" algn="l" rtl="0">
              <a:lnSpc>
                <a:spcPct val="160000"/>
              </a:lnSpc>
              <a:spcBef>
                <a:spcPts val="0"/>
              </a:spcBef>
              <a:spcAft>
                <a:spcPts val="0"/>
              </a:spcAft>
              <a:buNone/>
            </a:pPr>
            <a:endParaRPr lang="en-US" sz="1500" dirty="0">
              <a:solidFill>
                <a:srgbClr val="334155"/>
              </a:solidFill>
              <a:latin typeface="Inter"/>
              <a:ea typeface="Inter"/>
              <a:sym typeface="Inter"/>
            </a:endParaRPr>
          </a:p>
        </p:txBody>
      </p:sp>
      <p:sp>
        <p:nvSpPr>
          <p:cNvPr id="144" name="Google Shape;144;p17"/>
          <p:cNvSpPr txBox="1"/>
          <p:nvPr/>
        </p:nvSpPr>
        <p:spPr>
          <a:xfrm>
            <a:off x="5464373" y="4380858"/>
            <a:ext cx="6013251"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 </a:t>
            </a:r>
            <a:r>
              <a:rPr lang="en-US" sz="1500" b="1" i="0" u="none" strike="noStrike" cap="none" dirty="0">
                <a:solidFill>
                  <a:srgbClr val="0F172A"/>
                </a:solidFill>
                <a:latin typeface="Inter SemiBold"/>
                <a:ea typeface="Inter SemiBold"/>
                <a:cs typeface="Inter SemiBold"/>
                <a:sym typeface="Inter SemiBold"/>
              </a:rPr>
              <a:t>Blood Volume Pulse (BVP):</a:t>
            </a:r>
            <a:r>
              <a:rPr lang="en-US" sz="1500" b="1" i="0" u="none" strike="noStrike" cap="none" dirty="0">
                <a:solidFill>
                  <a:srgbClr val="334155"/>
                </a:solidFill>
                <a:latin typeface="Inter"/>
                <a:ea typeface="Inter"/>
                <a:cs typeface="Inter"/>
                <a:sym typeface="Inter"/>
              </a:rPr>
              <a:t> </a:t>
            </a:r>
            <a:r>
              <a:rPr lang="en-US" sz="1500" b="0" i="0" u="none" strike="noStrike" cap="none" dirty="0">
                <a:solidFill>
                  <a:srgbClr val="334155"/>
                </a:solidFill>
                <a:latin typeface="Inter"/>
                <a:ea typeface="Inter"/>
                <a:cs typeface="Inter"/>
                <a:sym typeface="Inter"/>
              </a:rPr>
              <a:t>logged at 64 Hz to track cardiovascular volume dynamics (PPG).</a:t>
            </a:r>
            <a:endParaRPr dirty="0"/>
          </a:p>
        </p:txBody>
      </p:sp>
      <p:sp>
        <p:nvSpPr>
          <p:cNvPr id="145" name="Google Shape;145;p17"/>
          <p:cNvSpPr txBox="1"/>
          <p:nvPr/>
        </p:nvSpPr>
        <p:spPr>
          <a:xfrm>
            <a:off x="5464373" y="5282350"/>
            <a:ext cx="6013251"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 </a:t>
            </a:r>
            <a:r>
              <a:rPr lang="en-US" sz="1500" b="1" i="0" u="none" strike="noStrike" cap="none" dirty="0">
                <a:solidFill>
                  <a:srgbClr val="0F172A"/>
                </a:solidFill>
                <a:latin typeface="Inter SemiBold"/>
                <a:ea typeface="Inter SemiBold"/>
                <a:cs typeface="Inter SemiBold"/>
                <a:sym typeface="Inter SemiBold"/>
              </a:rPr>
              <a:t>Binary Label Balance:</a:t>
            </a:r>
            <a:r>
              <a:rPr lang="en-US" sz="1500" b="1" i="0" u="none" strike="noStrike" cap="none" dirty="0">
                <a:solidFill>
                  <a:srgbClr val="334155"/>
                </a:solidFill>
                <a:latin typeface="Inter"/>
                <a:ea typeface="Inter"/>
                <a:cs typeface="Inter"/>
                <a:sym typeface="Inter"/>
              </a:rPr>
              <a:t> </a:t>
            </a:r>
            <a:r>
              <a:rPr lang="en-US" sz="1500" b="0" i="0" u="none" strike="noStrike" cap="none" dirty="0">
                <a:solidFill>
                  <a:srgbClr val="334155"/>
                </a:solidFill>
                <a:latin typeface="Inter"/>
                <a:ea typeface="Inter"/>
                <a:cs typeface="Inter"/>
                <a:sym typeface="Inter"/>
              </a:rPr>
              <a:t>Class 1 (Stress, TSST) vs. Class 0 (Non-stress), producing an imbalanced 80:20 distribution.</a:t>
            </a:r>
            <a:endParaRPr dirty="0"/>
          </a:p>
        </p:txBody>
      </p:sp>
      <p:sp>
        <p:nvSpPr>
          <p:cNvPr id="146" name="Google Shape;146;p17"/>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a:solidFill>
                  <a:srgbClr val="0F172A"/>
                </a:solidFill>
                <a:latin typeface="Poppins"/>
                <a:ea typeface="Poppins"/>
                <a:cs typeface="Poppins"/>
                <a:sym typeface="Poppins"/>
              </a:rPr>
              <a:t>WESAD Bio-Sensor metrics</a:t>
            </a:r>
            <a:endParaRPr dirty="0"/>
          </a:p>
        </p:txBody>
      </p:sp>
      <p:sp>
        <p:nvSpPr>
          <p:cNvPr id="2" name="CasellaDiTesto 1">
            <a:extLst>
              <a:ext uri="{FF2B5EF4-FFF2-40B4-BE49-F238E27FC236}">
                <a16:creationId xmlns:a16="http://schemas.microsoft.com/office/drawing/2014/main" id="{E009CA48-B218-4D57-453E-B026814C6DF9}"/>
              </a:ext>
            </a:extLst>
          </p:cNvPr>
          <p:cNvSpPr txBox="1"/>
          <p:nvPr/>
        </p:nvSpPr>
        <p:spPr>
          <a:xfrm>
            <a:off x="904875" y="1303108"/>
            <a:ext cx="9411636" cy="553998"/>
          </a:xfrm>
          <a:prstGeom prst="rect">
            <a:avLst/>
          </a:prstGeom>
          <a:noFill/>
        </p:spPr>
        <p:txBody>
          <a:bodyPr wrap="square" rtlCol="0">
            <a:spAutoFit/>
          </a:bodyPr>
          <a:lstStyle/>
          <a:p>
            <a:r>
              <a:rPr lang="it-IT" sz="1500" dirty="0">
                <a:solidFill>
                  <a:srgbClr val="0F172A"/>
                </a:solidFill>
                <a:latin typeface="Inter SemiBold"/>
                <a:ea typeface="Inter SemiBold"/>
              </a:rPr>
              <a:t>My project </a:t>
            </a:r>
            <a:r>
              <a:rPr lang="it-IT" sz="1500" dirty="0" err="1">
                <a:solidFill>
                  <a:srgbClr val="0F172A"/>
                </a:solidFill>
                <a:latin typeface="Inter SemiBold"/>
                <a:ea typeface="Inter SemiBold"/>
              </a:rPr>
              <a:t>is</a:t>
            </a:r>
            <a:r>
              <a:rPr lang="it-IT" sz="1500" dirty="0">
                <a:solidFill>
                  <a:srgbClr val="0F172A"/>
                </a:solidFill>
                <a:latin typeface="Inter SemiBold"/>
                <a:ea typeface="Inter SemiBold"/>
              </a:rPr>
              <a:t> </a:t>
            </a:r>
            <a:r>
              <a:rPr lang="it-IT" sz="1500" dirty="0" err="1">
                <a:solidFill>
                  <a:srgbClr val="0F172A"/>
                </a:solidFill>
                <a:latin typeface="Inter SemiBold"/>
                <a:ea typeface="Inter SemiBold"/>
              </a:rPr>
              <a:t>validated</a:t>
            </a:r>
            <a:r>
              <a:rPr lang="it-IT" sz="1500" dirty="0">
                <a:solidFill>
                  <a:srgbClr val="0F172A"/>
                </a:solidFill>
                <a:latin typeface="Inter SemiBold"/>
                <a:ea typeface="Inter SemiBold"/>
              </a:rPr>
              <a:t> on the </a:t>
            </a:r>
            <a:r>
              <a:rPr lang="it-IT" sz="1500" dirty="0" err="1">
                <a:solidFill>
                  <a:srgbClr val="0F172A"/>
                </a:solidFill>
                <a:latin typeface="Inter SemiBold"/>
                <a:ea typeface="Inter SemiBold"/>
              </a:rPr>
              <a:t>gold</a:t>
            </a:r>
            <a:r>
              <a:rPr lang="it-IT" sz="1500" dirty="0">
                <a:solidFill>
                  <a:srgbClr val="0F172A"/>
                </a:solidFill>
                <a:latin typeface="Inter SemiBold"/>
                <a:ea typeface="Inter SemiBold"/>
              </a:rPr>
              <a:t>-standard </a:t>
            </a:r>
            <a:r>
              <a:rPr lang="it-IT" sz="1500" b="1" dirty="0">
                <a:solidFill>
                  <a:schemeClr val="accent5"/>
                </a:solidFill>
                <a:latin typeface="Inter SemiBold"/>
                <a:ea typeface="Inter SemiBold"/>
              </a:rPr>
              <a:t>WESAD dataset</a:t>
            </a:r>
            <a:r>
              <a:rPr lang="it-IT" sz="1500" dirty="0">
                <a:solidFill>
                  <a:srgbClr val="0F172A"/>
                </a:solidFill>
                <a:latin typeface="Inter SemiBold"/>
                <a:ea typeface="Inter SemiBold"/>
              </a:rPr>
              <a:t>, </a:t>
            </a:r>
            <a:r>
              <a:rPr lang="it-IT" sz="1500" dirty="0" err="1">
                <a:solidFill>
                  <a:srgbClr val="0F172A"/>
                </a:solidFill>
                <a:latin typeface="Inter SemiBold"/>
                <a:ea typeface="Inter SemiBold"/>
              </a:rPr>
              <a:t>focusing</a:t>
            </a:r>
            <a:r>
              <a:rPr lang="it-IT" sz="1500" dirty="0">
                <a:solidFill>
                  <a:srgbClr val="0F172A"/>
                </a:solidFill>
                <a:latin typeface="Inter SemiBold"/>
                <a:ea typeface="Inter SemiBold"/>
              </a:rPr>
              <a:t> </a:t>
            </a:r>
            <a:r>
              <a:rPr lang="it-IT" sz="1500" dirty="0" err="1">
                <a:solidFill>
                  <a:srgbClr val="0F172A"/>
                </a:solidFill>
                <a:latin typeface="Inter SemiBold"/>
                <a:ea typeface="Inter SemiBold"/>
              </a:rPr>
              <a:t>exclusively</a:t>
            </a:r>
            <a:r>
              <a:rPr lang="it-IT" sz="1500" dirty="0">
                <a:solidFill>
                  <a:srgbClr val="0F172A"/>
                </a:solidFill>
                <a:latin typeface="Inter SemiBold"/>
                <a:ea typeface="Inter SemiBold"/>
              </a:rPr>
              <a:t> on data from the </a:t>
            </a:r>
            <a:r>
              <a:rPr lang="it-IT" sz="1500" dirty="0" err="1">
                <a:solidFill>
                  <a:srgbClr val="0F172A"/>
                </a:solidFill>
                <a:latin typeface="Inter SemiBold"/>
                <a:ea typeface="Inter SemiBold"/>
              </a:rPr>
              <a:t>wrist-worn</a:t>
            </a:r>
            <a:r>
              <a:rPr lang="it-IT" sz="1500" dirty="0">
                <a:solidFill>
                  <a:srgbClr val="0F172A"/>
                </a:solidFill>
                <a:latin typeface="Inter SemiBold"/>
                <a:ea typeface="Inter SemiBold"/>
              </a:rPr>
              <a:t> Empatica E4 device to </a:t>
            </a:r>
            <a:r>
              <a:rPr lang="it-IT" sz="1500" dirty="0" err="1">
                <a:solidFill>
                  <a:srgbClr val="0F172A"/>
                </a:solidFill>
                <a:latin typeface="Inter SemiBold"/>
                <a:ea typeface="Inter SemiBold"/>
              </a:rPr>
              <a:t>perfectly</a:t>
            </a:r>
            <a:r>
              <a:rPr lang="it-IT" sz="1500" dirty="0">
                <a:solidFill>
                  <a:srgbClr val="0F172A"/>
                </a:solidFill>
                <a:latin typeface="Inter SemiBold"/>
                <a:ea typeface="Inter SemiBold"/>
              </a:rPr>
              <a:t> simulate a </a:t>
            </a:r>
            <a:r>
              <a:rPr lang="it-IT" sz="1500" dirty="0" err="1">
                <a:solidFill>
                  <a:srgbClr val="0F172A"/>
                </a:solidFill>
                <a:latin typeface="Inter SemiBold"/>
                <a:ea typeface="Inter SemiBold"/>
              </a:rPr>
              <a:t>real</a:t>
            </a:r>
            <a:r>
              <a:rPr lang="it-IT" sz="1500" dirty="0">
                <a:solidFill>
                  <a:srgbClr val="0F172A"/>
                </a:solidFill>
                <a:latin typeface="Inter SemiBold"/>
                <a:ea typeface="Inter SemiBold"/>
              </a:rPr>
              <a:t>-world consumer scenario.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p:cNvGrpSpPr/>
        <p:nvPr/>
      </p:nvGrpSpPr>
      <p:grpSpPr>
        <a:xfrm>
          <a:off x="0" y="0"/>
          <a:ext cx="0" cy="0"/>
          <a:chOff x="0" y="0"/>
          <a:chExt cx="0" cy="0"/>
        </a:xfrm>
      </p:grpSpPr>
      <p:pic>
        <p:nvPicPr>
          <p:cNvPr id="152" name="Google Shape;15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9" name="Google Shape;159;p18"/>
          <p:cNvSpPr txBox="1"/>
          <p:nvPr/>
        </p:nvSpPr>
        <p:spPr>
          <a:xfrm>
            <a:off x="510554" y="1244630"/>
            <a:ext cx="11225921" cy="923330"/>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The </a:t>
            </a:r>
            <a:r>
              <a:rPr lang="it-IT" sz="1500" dirty="0" err="1">
                <a:solidFill>
                  <a:srgbClr val="334155"/>
                </a:solidFill>
                <a:latin typeface="Inter"/>
                <a:ea typeface="Inter"/>
              </a:rPr>
              <a:t>SafeStress</a:t>
            </a:r>
            <a:r>
              <a:rPr lang="it-IT" sz="1500" dirty="0">
                <a:solidFill>
                  <a:srgbClr val="334155"/>
                </a:solidFill>
                <a:latin typeface="Inter"/>
                <a:ea typeface="Inter"/>
              </a:rPr>
              <a:t>-ML </a:t>
            </a:r>
            <a:r>
              <a:rPr lang="it-IT" sz="1500" dirty="0" err="1">
                <a:solidFill>
                  <a:srgbClr val="334155"/>
                </a:solidFill>
                <a:latin typeface="Inter"/>
                <a:ea typeface="Inter"/>
              </a:rPr>
              <a:t>architecture</a:t>
            </a:r>
            <a:r>
              <a:rPr lang="it-IT" sz="1500" dirty="0">
                <a:solidFill>
                  <a:srgbClr val="334155"/>
                </a:solidFill>
                <a:latin typeface="Inter"/>
                <a:ea typeface="Inter"/>
              </a:rPr>
              <a:t> </a:t>
            </a:r>
            <a:r>
              <a:rPr lang="it-IT" sz="1500" dirty="0" err="1">
                <a:solidFill>
                  <a:srgbClr val="334155"/>
                </a:solidFill>
                <a:latin typeface="Inter"/>
                <a:ea typeface="Inter"/>
              </a:rPr>
              <a:t>is</a:t>
            </a:r>
            <a:r>
              <a:rPr lang="it-IT" sz="1500" dirty="0">
                <a:solidFill>
                  <a:srgbClr val="334155"/>
                </a:solidFill>
                <a:latin typeface="Inter"/>
                <a:ea typeface="Inter"/>
              </a:rPr>
              <a:t> </a:t>
            </a:r>
            <a:r>
              <a:rPr lang="it-IT" sz="1500" dirty="0" err="1">
                <a:solidFill>
                  <a:srgbClr val="334155"/>
                </a:solidFill>
                <a:latin typeface="Inter"/>
                <a:ea typeface="Inter"/>
              </a:rPr>
              <a:t>built</a:t>
            </a:r>
            <a:r>
              <a:rPr lang="it-IT" sz="1500" dirty="0">
                <a:solidFill>
                  <a:srgbClr val="334155"/>
                </a:solidFill>
                <a:latin typeface="Inter"/>
                <a:ea typeface="Inter"/>
              </a:rPr>
              <a:t> on a </a:t>
            </a:r>
            <a:r>
              <a:rPr lang="it-IT" sz="1500" dirty="0" err="1">
                <a:solidFill>
                  <a:srgbClr val="334155"/>
                </a:solidFill>
                <a:latin typeface="Inter"/>
                <a:ea typeface="Inter"/>
              </a:rPr>
              <a:t>sequential</a:t>
            </a:r>
            <a:r>
              <a:rPr lang="it-IT" sz="1500" dirty="0">
                <a:solidFill>
                  <a:srgbClr val="334155"/>
                </a:solidFill>
                <a:latin typeface="Inter"/>
                <a:ea typeface="Inter"/>
              </a:rPr>
              <a:t>, </a:t>
            </a:r>
            <a:r>
              <a:rPr lang="it-IT" sz="1500" dirty="0" err="1">
                <a:solidFill>
                  <a:schemeClr val="accent5"/>
                </a:solidFill>
                <a:latin typeface="Inter"/>
                <a:ea typeface="Inter"/>
              </a:rPr>
              <a:t>five</a:t>
            </a:r>
            <a:r>
              <a:rPr lang="it-IT" sz="1500" dirty="0">
                <a:solidFill>
                  <a:schemeClr val="accent5"/>
                </a:solidFill>
                <a:latin typeface="Inter"/>
                <a:ea typeface="Inter"/>
              </a:rPr>
              <a:t>-step pipeline </a:t>
            </a:r>
            <a:r>
              <a:rPr lang="it-IT" sz="1500" dirty="0" err="1">
                <a:solidFill>
                  <a:srgbClr val="334155"/>
                </a:solidFill>
                <a:latin typeface="Inter"/>
                <a:ea typeface="Inter"/>
              </a:rPr>
              <a:t>designed</a:t>
            </a:r>
            <a:r>
              <a:rPr lang="it-IT" sz="1500" dirty="0">
                <a:solidFill>
                  <a:srgbClr val="334155"/>
                </a:solidFill>
                <a:latin typeface="Inter"/>
                <a:ea typeface="Inter"/>
              </a:rPr>
              <a:t> for clinical </a:t>
            </a:r>
            <a:r>
              <a:rPr lang="it-IT" sz="1500" dirty="0" err="1">
                <a:solidFill>
                  <a:srgbClr val="334155"/>
                </a:solidFill>
                <a:latin typeface="Inter"/>
                <a:ea typeface="Inter"/>
              </a:rPr>
              <a:t>edge-friendliness</a:t>
            </a:r>
            <a:r>
              <a:rPr lang="it-IT" sz="1500" dirty="0">
                <a:solidFill>
                  <a:srgbClr val="334155"/>
                </a:solidFill>
                <a:latin typeface="Inter"/>
                <a:ea typeface="Inter"/>
              </a:rPr>
              <a:t>. </a:t>
            </a:r>
            <a:r>
              <a:rPr lang="it-IT" sz="1500" dirty="0" err="1">
                <a:solidFill>
                  <a:srgbClr val="334155"/>
                </a:solidFill>
                <a:latin typeface="Inter"/>
                <a:ea typeface="Inter"/>
              </a:rPr>
              <a:t>It</a:t>
            </a:r>
            <a:r>
              <a:rPr lang="it-IT" sz="1500" dirty="0">
                <a:solidFill>
                  <a:srgbClr val="334155"/>
                </a:solidFill>
                <a:latin typeface="Inter"/>
                <a:ea typeface="Inter"/>
              </a:rPr>
              <a:t> starts with </a:t>
            </a:r>
            <a:r>
              <a:rPr lang="it-IT" sz="1500" dirty="0" err="1">
                <a:solidFill>
                  <a:srgbClr val="334155"/>
                </a:solidFill>
                <a:latin typeface="Inter"/>
                <a:ea typeface="Inter"/>
              </a:rPr>
              <a:t>raw</a:t>
            </a:r>
            <a:r>
              <a:rPr lang="it-IT" sz="1500" dirty="0">
                <a:solidFill>
                  <a:srgbClr val="334155"/>
                </a:solidFill>
                <a:latin typeface="Inter"/>
                <a:ea typeface="Inter"/>
              </a:rPr>
              <a:t> </a:t>
            </a:r>
            <a:r>
              <a:rPr lang="it-IT" sz="1500" dirty="0" err="1">
                <a:solidFill>
                  <a:srgbClr val="334155"/>
                </a:solidFill>
                <a:latin typeface="Inter"/>
                <a:ea typeface="Inter"/>
              </a:rPr>
              <a:t>signal</a:t>
            </a:r>
            <a:r>
              <a:rPr lang="it-IT" sz="1500" dirty="0">
                <a:solidFill>
                  <a:srgbClr val="334155"/>
                </a:solidFill>
                <a:latin typeface="Inter"/>
                <a:ea typeface="Inter"/>
              </a:rPr>
              <a:t> </a:t>
            </a:r>
            <a:r>
              <a:rPr lang="it-IT" sz="1500" dirty="0" err="1">
                <a:solidFill>
                  <a:srgbClr val="334155"/>
                </a:solidFill>
                <a:latin typeface="Inter"/>
                <a:ea typeface="Inter"/>
              </a:rPr>
              <a:t>acquisition</a:t>
            </a:r>
            <a:r>
              <a:rPr lang="it-IT" sz="1500" dirty="0">
                <a:solidFill>
                  <a:srgbClr val="334155"/>
                </a:solidFill>
                <a:latin typeface="Inter"/>
                <a:ea typeface="Inter"/>
              </a:rPr>
              <a:t>, </a:t>
            </a:r>
            <a:r>
              <a:rPr lang="it-IT" sz="1500" dirty="0" err="1">
                <a:solidFill>
                  <a:srgbClr val="334155"/>
                </a:solidFill>
                <a:latin typeface="Inter"/>
                <a:ea typeface="Inter"/>
              </a:rPr>
              <a:t>followed</a:t>
            </a:r>
            <a:r>
              <a:rPr lang="it-IT" sz="1500" dirty="0">
                <a:solidFill>
                  <a:srgbClr val="334155"/>
                </a:solidFill>
                <a:latin typeface="Inter"/>
                <a:ea typeface="Inter"/>
              </a:rPr>
              <a:t> by </a:t>
            </a:r>
            <a:r>
              <a:rPr lang="it-IT" sz="1500" dirty="0" err="1">
                <a:solidFill>
                  <a:srgbClr val="334155"/>
                </a:solidFill>
                <a:latin typeface="Inter"/>
                <a:ea typeface="Inter"/>
              </a:rPr>
              <a:t>subject</a:t>
            </a:r>
            <a:r>
              <a:rPr lang="it-IT" sz="1500" dirty="0">
                <a:solidFill>
                  <a:srgbClr val="334155"/>
                </a:solidFill>
                <a:latin typeface="Inter"/>
                <a:ea typeface="Inter"/>
              </a:rPr>
              <a:t>-wise </a:t>
            </a:r>
            <a:r>
              <a:rPr lang="it-IT" sz="1500" dirty="0" err="1">
                <a:solidFill>
                  <a:srgbClr val="334155"/>
                </a:solidFill>
                <a:latin typeface="Inter"/>
                <a:ea typeface="Inter"/>
              </a:rPr>
              <a:t>normalization</a:t>
            </a:r>
            <a:r>
              <a:rPr lang="it-IT" sz="1500" dirty="0">
                <a:solidFill>
                  <a:srgbClr val="334155"/>
                </a:solidFill>
                <a:latin typeface="Inter"/>
                <a:ea typeface="Inter"/>
              </a:rPr>
              <a:t> and sliding window feature </a:t>
            </a:r>
            <a:r>
              <a:rPr lang="it-IT" sz="1500" dirty="0" err="1">
                <a:solidFill>
                  <a:srgbClr val="334155"/>
                </a:solidFill>
                <a:latin typeface="Inter"/>
                <a:ea typeface="Inter"/>
              </a:rPr>
              <a:t>extraction</a:t>
            </a:r>
            <a:r>
              <a:rPr lang="it-IT" sz="1500" dirty="0">
                <a:solidFill>
                  <a:srgbClr val="334155"/>
                </a:solidFill>
                <a:latin typeface="Inter"/>
                <a:ea typeface="Inter"/>
              </a:rPr>
              <a:t>. The core </a:t>
            </a:r>
            <a:r>
              <a:rPr lang="it-IT" sz="1500" dirty="0" err="1">
                <a:solidFill>
                  <a:srgbClr val="334155"/>
                </a:solidFill>
                <a:latin typeface="Inter"/>
                <a:ea typeface="Inter"/>
              </a:rPr>
              <a:t>consists</a:t>
            </a:r>
            <a:r>
              <a:rPr lang="it-IT" sz="1500" dirty="0">
                <a:solidFill>
                  <a:srgbClr val="334155"/>
                </a:solidFill>
                <a:latin typeface="Inter"/>
                <a:ea typeface="Inter"/>
              </a:rPr>
              <a:t> of a </a:t>
            </a:r>
            <a:r>
              <a:rPr lang="it-IT" sz="1500" dirty="0" err="1">
                <a:solidFill>
                  <a:srgbClr val="334155"/>
                </a:solidFill>
                <a:latin typeface="Inter"/>
                <a:ea typeface="Inter"/>
              </a:rPr>
              <a:t>rigorous</a:t>
            </a:r>
            <a:r>
              <a:rPr lang="it-IT" sz="1500" dirty="0">
                <a:solidFill>
                  <a:srgbClr val="334155"/>
                </a:solidFill>
                <a:latin typeface="Inter"/>
                <a:ea typeface="Inter"/>
              </a:rPr>
              <a:t> LOSO </a:t>
            </a:r>
            <a:r>
              <a:rPr lang="it-IT" sz="1500" dirty="0" err="1">
                <a:solidFill>
                  <a:srgbClr val="334155"/>
                </a:solidFill>
                <a:latin typeface="Inter"/>
                <a:ea typeface="Inter"/>
              </a:rPr>
              <a:t>validation</a:t>
            </a:r>
            <a:r>
              <a:rPr lang="it-IT" sz="1500" dirty="0">
                <a:solidFill>
                  <a:srgbClr val="334155"/>
                </a:solidFill>
                <a:latin typeface="Inter"/>
                <a:ea typeface="Inter"/>
              </a:rPr>
              <a:t> loop </a:t>
            </a:r>
            <a:r>
              <a:rPr lang="it-IT" sz="1500" dirty="0" err="1">
                <a:solidFill>
                  <a:srgbClr val="334155"/>
                </a:solidFill>
                <a:latin typeface="Inter"/>
                <a:ea typeface="Inter"/>
              </a:rPr>
              <a:t>equipped</a:t>
            </a:r>
            <a:r>
              <a:rPr lang="it-IT" sz="1500" dirty="0">
                <a:solidFill>
                  <a:srgbClr val="334155"/>
                </a:solidFill>
                <a:latin typeface="Inter"/>
                <a:ea typeface="Inter"/>
              </a:rPr>
              <a:t> with SMOTE balancing, </a:t>
            </a:r>
            <a:r>
              <a:rPr lang="it-IT" sz="1500" dirty="0" err="1">
                <a:solidFill>
                  <a:srgbClr val="334155"/>
                </a:solidFill>
                <a:latin typeface="Inter"/>
                <a:ea typeface="Inter"/>
              </a:rPr>
              <a:t>culminating</a:t>
            </a:r>
            <a:r>
              <a:rPr lang="it-IT" sz="1500" dirty="0">
                <a:solidFill>
                  <a:srgbClr val="334155"/>
                </a:solidFill>
                <a:latin typeface="Inter"/>
                <a:ea typeface="Inter"/>
              </a:rPr>
              <a:t> in a </a:t>
            </a:r>
            <a:r>
              <a:rPr lang="it-IT" sz="1500" dirty="0" err="1">
                <a:solidFill>
                  <a:srgbClr val="334155"/>
                </a:solidFill>
                <a:latin typeface="Inter"/>
                <a:ea typeface="Inter"/>
              </a:rPr>
              <a:t>TreeSHAP</a:t>
            </a:r>
            <a:r>
              <a:rPr lang="it-IT" sz="1500" dirty="0">
                <a:solidFill>
                  <a:srgbClr val="334155"/>
                </a:solidFill>
                <a:latin typeface="Inter"/>
                <a:ea typeface="Inter"/>
              </a:rPr>
              <a:t> </a:t>
            </a:r>
            <a:r>
              <a:rPr lang="it-IT" sz="1500" dirty="0" err="1">
                <a:solidFill>
                  <a:srgbClr val="334155"/>
                </a:solidFill>
                <a:latin typeface="Inter"/>
                <a:ea typeface="Inter"/>
              </a:rPr>
              <a:t>explainability</a:t>
            </a:r>
            <a:r>
              <a:rPr lang="it-IT" sz="1500" dirty="0">
                <a:solidFill>
                  <a:srgbClr val="334155"/>
                </a:solidFill>
                <a:latin typeface="Inter"/>
                <a:ea typeface="Inter"/>
              </a:rPr>
              <a:t> </a:t>
            </a:r>
            <a:r>
              <a:rPr lang="it-IT" sz="1500" dirty="0" err="1">
                <a:solidFill>
                  <a:srgbClr val="334155"/>
                </a:solidFill>
                <a:latin typeface="Inter"/>
                <a:ea typeface="Inter"/>
              </a:rPr>
              <a:t>layer</a:t>
            </a:r>
            <a:r>
              <a:rPr lang="it-IT" sz="1500" dirty="0">
                <a:solidFill>
                  <a:srgbClr val="334155"/>
                </a:solidFill>
                <a:latin typeface="Inter"/>
                <a:ea typeface="Inter"/>
              </a:rPr>
              <a:t> </a:t>
            </a:r>
            <a:r>
              <a:rPr lang="it-IT" sz="1500" dirty="0" err="1">
                <a:solidFill>
                  <a:srgbClr val="334155"/>
                </a:solidFill>
                <a:latin typeface="Inter"/>
                <a:ea typeface="Inter"/>
              </a:rPr>
              <a:t>that</a:t>
            </a:r>
            <a:r>
              <a:rPr lang="it-IT" sz="1500" dirty="0">
                <a:solidFill>
                  <a:srgbClr val="334155"/>
                </a:solidFill>
                <a:latin typeface="Inter"/>
                <a:ea typeface="Inter"/>
              </a:rPr>
              <a:t> </a:t>
            </a:r>
            <a:r>
              <a:rPr lang="it-IT" sz="1500" dirty="0" err="1">
                <a:solidFill>
                  <a:srgbClr val="334155"/>
                </a:solidFill>
                <a:latin typeface="Inter"/>
                <a:ea typeface="Inter"/>
              </a:rPr>
              <a:t>translates</a:t>
            </a:r>
            <a:r>
              <a:rPr lang="it-IT" sz="1500" dirty="0">
                <a:solidFill>
                  <a:srgbClr val="334155"/>
                </a:solidFill>
                <a:latin typeface="Inter"/>
                <a:ea typeface="Inter"/>
              </a:rPr>
              <a:t> </a:t>
            </a:r>
            <a:r>
              <a:rPr lang="it-IT" sz="1500" dirty="0" err="1">
                <a:solidFill>
                  <a:srgbClr val="334155"/>
                </a:solidFill>
                <a:latin typeface="Inter"/>
                <a:ea typeface="Inter"/>
              </a:rPr>
              <a:t>mathematical</a:t>
            </a:r>
            <a:r>
              <a:rPr lang="it-IT" sz="1500" dirty="0">
                <a:solidFill>
                  <a:srgbClr val="334155"/>
                </a:solidFill>
                <a:latin typeface="Inter"/>
                <a:ea typeface="Inter"/>
              </a:rPr>
              <a:t> outputs </a:t>
            </a:r>
            <a:r>
              <a:rPr lang="it-IT" sz="1500" dirty="0" err="1">
                <a:solidFill>
                  <a:srgbClr val="334155"/>
                </a:solidFill>
                <a:latin typeface="Inter"/>
                <a:ea typeface="Inter"/>
              </a:rPr>
              <a:t>into</a:t>
            </a:r>
            <a:r>
              <a:rPr lang="it-IT" sz="1500" dirty="0">
                <a:solidFill>
                  <a:srgbClr val="334155"/>
                </a:solidFill>
                <a:latin typeface="Inter"/>
                <a:ea typeface="Inter"/>
              </a:rPr>
              <a:t> </a:t>
            </a:r>
            <a:r>
              <a:rPr lang="it-IT" sz="1500" dirty="0" err="1">
                <a:solidFill>
                  <a:srgbClr val="334155"/>
                </a:solidFill>
                <a:latin typeface="Inter"/>
                <a:ea typeface="Inter"/>
              </a:rPr>
              <a:t>actionable</a:t>
            </a:r>
            <a:r>
              <a:rPr lang="it-IT" sz="1500" dirty="0">
                <a:solidFill>
                  <a:srgbClr val="334155"/>
                </a:solidFill>
                <a:latin typeface="Inter"/>
                <a:ea typeface="Inter"/>
              </a:rPr>
              <a:t> clinical insights.</a:t>
            </a:r>
            <a:endParaRPr sz="1500" dirty="0">
              <a:solidFill>
                <a:srgbClr val="334155"/>
              </a:solidFill>
              <a:latin typeface="Inter"/>
              <a:ea typeface="Inter"/>
            </a:endParaRPr>
          </a:p>
        </p:txBody>
      </p:sp>
      <p:sp>
        <p:nvSpPr>
          <p:cNvPr id="176" name="Google Shape;176;p18"/>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a:solidFill>
                  <a:srgbClr val="0F172A"/>
                </a:solidFill>
                <a:latin typeface="Poppins"/>
                <a:ea typeface="Poppins"/>
                <a:cs typeface="Poppins"/>
                <a:sym typeface="Poppins"/>
              </a:rPr>
              <a:t>Proposed project </a:t>
            </a:r>
            <a:r>
              <a:rPr lang="en-US" sz="3150" b="1" dirty="0">
                <a:solidFill>
                  <a:srgbClr val="0F172A"/>
                </a:solidFill>
                <a:latin typeface="Poppins"/>
                <a:ea typeface="Poppins"/>
                <a:cs typeface="Poppins"/>
                <a:sym typeface="Poppins"/>
              </a:rPr>
              <a:t>p</a:t>
            </a:r>
            <a:r>
              <a:rPr lang="en-US" sz="3150" b="1" i="0" u="none" strike="noStrike" cap="none" dirty="0">
                <a:solidFill>
                  <a:srgbClr val="0F172A"/>
                </a:solidFill>
                <a:latin typeface="Poppins"/>
                <a:ea typeface="Poppins"/>
                <a:cs typeface="Poppins"/>
                <a:sym typeface="Poppins"/>
              </a:rPr>
              <a:t>ipeline</a:t>
            </a:r>
            <a:endParaRPr dirty="0"/>
          </a:p>
        </p:txBody>
      </p:sp>
      <p:pic>
        <p:nvPicPr>
          <p:cNvPr id="6" name="Immagine 5">
            <a:extLst>
              <a:ext uri="{FF2B5EF4-FFF2-40B4-BE49-F238E27FC236}">
                <a16:creationId xmlns:a16="http://schemas.microsoft.com/office/drawing/2014/main" id="{10124FF0-0E98-F777-191B-60ED0B6ECF33}"/>
              </a:ext>
            </a:extLst>
          </p:cNvPr>
          <p:cNvPicPr>
            <a:picLocks noChangeAspect="1"/>
          </p:cNvPicPr>
          <p:nvPr/>
        </p:nvPicPr>
        <p:blipFill>
          <a:blip r:embed="rId4"/>
          <a:stretch>
            <a:fillRect/>
          </a:stretch>
        </p:blipFill>
        <p:spPr>
          <a:xfrm>
            <a:off x="1602591" y="2724548"/>
            <a:ext cx="9705953" cy="21782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5169A87C-BFBA-F4E0-F545-176B2F9C1FEC}"/>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68CC9574-B239-7F51-2DDA-CF9D1E8781E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mc:AlternateContent xmlns:mc="http://schemas.openxmlformats.org/markup-compatibility/2006">
        <mc:Choice xmlns:a14="http://schemas.microsoft.com/office/drawing/2010/main" Requires="a14">
          <p:sp>
            <p:nvSpPr>
              <p:cNvPr id="159" name="Google Shape;159;p18">
                <a:extLst>
                  <a:ext uri="{FF2B5EF4-FFF2-40B4-BE49-F238E27FC236}">
                    <a16:creationId xmlns:a16="http://schemas.microsoft.com/office/drawing/2014/main" id="{2E690852-5D97-8B67-5FB8-8F8760AA8DF4}"/>
                  </a:ext>
                </a:extLst>
              </p:cNvPr>
              <p:cNvSpPr txBox="1"/>
              <p:nvPr/>
            </p:nvSpPr>
            <p:spPr>
              <a:xfrm>
                <a:off x="510554" y="1244630"/>
                <a:ext cx="11225921" cy="1154162"/>
              </a:xfrm>
              <a:prstGeom prst="rect">
                <a:avLst/>
              </a:prstGeom>
              <a:noFill/>
              <a:ln>
                <a:noFill/>
              </a:ln>
            </p:spPr>
            <p:txBody>
              <a:bodyPr spcFirstLastPara="1" wrap="square" lIns="0" tIns="0" rIns="0" bIns="0" anchor="t" anchorCtr="0">
                <a:spAutoFit/>
              </a:bodyPr>
              <a:lstStyle/>
              <a:p>
                <a:r>
                  <a:rPr lang="en-GB" sz="1500" dirty="0">
                    <a:solidFill>
                      <a:srgbClr val="334155"/>
                    </a:solidFill>
                    <a:latin typeface="Inter"/>
                    <a:ea typeface="Inter"/>
                  </a:rPr>
                  <a:t>Our first step is </a:t>
                </a:r>
                <a:r>
                  <a:rPr lang="en-GB" sz="1500" dirty="0">
                    <a:solidFill>
                      <a:schemeClr val="accent5"/>
                    </a:solidFill>
                    <a:latin typeface="Inter"/>
                    <a:ea typeface="Inter"/>
                  </a:rPr>
                  <a:t>normalization</a:t>
                </a:r>
                <a:r>
                  <a:rPr lang="en-GB" sz="1500" dirty="0">
                    <a:solidFill>
                      <a:srgbClr val="334155"/>
                    </a:solidFill>
                    <a:latin typeface="Inter"/>
                    <a:ea typeface="Inter"/>
                  </a:rPr>
                  <a:t>. Two people can have completely different baseline sweat levels or resting heart rates due to genetics. If I normalized the dataset globally, the AI would learn to recognize 'who the person is' rather than 'whether they are stressed'.</a:t>
                </a:r>
                <a:br>
                  <a:rPr lang="en-GB" sz="1500" dirty="0">
                    <a:solidFill>
                      <a:srgbClr val="334155"/>
                    </a:solidFill>
                    <a:latin typeface="Inter"/>
                    <a:ea typeface="Inter"/>
                  </a:rPr>
                </a:br>
                <a:r>
                  <a:rPr lang="en-GB" sz="1500" dirty="0">
                    <a:solidFill>
                      <a:srgbClr val="334155"/>
                    </a:solidFill>
                    <a:latin typeface="Inter"/>
                    <a:ea typeface="Inter"/>
                  </a:rPr>
                  <a:t>By calculating </a:t>
                </a:r>
                <a14:m>
                  <m:oMath xmlns:m="http://schemas.openxmlformats.org/officeDocument/2006/math">
                    <m:r>
                      <a:rPr lang="it-IT" sz="1500">
                        <a:solidFill>
                          <a:srgbClr val="334155"/>
                        </a:solidFill>
                        <a:latin typeface="Cambria Math" panose="02040503050406030204" pitchFamily="18" charset="0"/>
                        <a:ea typeface="Inter"/>
                      </a:rPr>
                      <m:t>𝜇</m:t>
                    </m:r>
                  </m:oMath>
                </a14:m>
                <a:r>
                  <a:rPr lang="it-IT" sz="1500" dirty="0">
                    <a:solidFill>
                      <a:srgbClr val="334155"/>
                    </a:solidFill>
                    <a:latin typeface="Inter"/>
                    <a:ea typeface="Inter"/>
                  </a:rPr>
                  <a:t> </a:t>
                </a:r>
                <a:r>
                  <a:rPr lang="en-GB" sz="1500" dirty="0">
                    <a:solidFill>
                      <a:srgbClr val="334155"/>
                    </a:solidFill>
                    <a:latin typeface="Inter"/>
                    <a:ea typeface="Inter"/>
                  </a:rPr>
                  <a:t>and  </a:t>
                </a:r>
                <a14:m>
                  <m:oMath xmlns:m="http://schemas.openxmlformats.org/officeDocument/2006/math">
                    <m:r>
                      <a:rPr lang="it-IT" sz="1500">
                        <a:solidFill>
                          <a:srgbClr val="334155"/>
                        </a:solidFill>
                        <a:latin typeface="Cambria Math" panose="02040503050406030204" pitchFamily="18" charset="0"/>
                        <a:ea typeface="Inter"/>
                      </a:rPr>
                      <m:t>𝜎</m:t>
                    </m:r>
                  </m:oMath>
                </a14:m>
                <a:r>
                  <a:rPr lang="it-IT" sz="1500" dirty="0">
                    <a:solidFill>
                      <a:srgbClr val="334155"/>
                    </a:solidFill>
                    <a:latin typeface="Inter"/>
                    <a:ea typeface="Inter"/>
                  </a:rPr>
                  <a:t> </a:t>
                </a:r>
                <a:r>
                  <a:rPr lang="en-GB" sz="1500" dirty="0">
                    <a:solidFill>
                      <a:srgbClr val="334155"/>
                    </a:solidFill>
                    <a:latin typeface="Inter"/>
                    <a:ea typeface="Inter"/>
                  </a:rPr>
                  <a:t>separately for each subject, we eliminate baseline genetic bias and force the model to focus only on relative physiological spikes."</a:t>
                </a:r>
                <a:endParaRPr sz="1500" dirty="0">
                  <a:solidFill>
                    <a:srgbClr val="334155"/>
                  </a:solidFill>
                  <a:latin typeface="Inter"/>
                  <a:ea typeface="Inter"/>
                </a:endParaRPr>
              </a:p>
            </p:txBody>
          </p:sp>
        </mc:Choice>
        <mc:Fallback>
          <p:sp>
            <p:nvSpPr>
              <p:cNvPr id="159" name="Google Shape;159;p18">
                <a:extLst>
                  <a:ext uri="{FF2B5EF4-FFF2-40B4-BE49-F238E27FC236}">
                    <a16:creationId xmlns:a16="http://schemas.microsoft.com/office/drawing/2014/main" id="{2E690852-5D97-8B67-5FB8-8F8760AA8DF4}"/>
                  </a:ext>
                </a:extLst>
              </p:cNvPr>
              <p:cNvSpPr txBox="1">
                <a:spLocks noRot="1" noChangeAspect="1" noMove="1" noResize="1" noEditPoints="1" noAdjustHandles="1" noChangeArrowheads="1" noChangeShapeType="1" noTextEdit="1"/>
              </p:cNvSpPr>
              <p:nvPr/>
            </p:nvSpPr>
            <p:spPr>
              <a:xfrm>
                <a:off x="510554" y="1244630"/>
                <a:ext cx="11225921" cy="1154162"/>
              </a:xfrm>
              <a:prstGeom prst="rect">
                <a:avLst/>
              </a:prstGeom>
              <a:blipFill>
                <a:blip r:embed="rId4"/>
                <a:stretch>
                  <a:fillRect l="-1032" t="-5263" r="-163" b="-8421"/>
                </a:stretch>
              </a:blipFill>
              <a:ln>
                <a:noFill/>
              </a:ln>
            </p:spPr>
            <p:txBody>
              <a:bodyPr/>
              <a:lstStyle/>
              <a:p>
                <a:r>
                  <a:rPr lang="it-IT">
                    <a:noFill/>
                  </a:rPr>
                  <a:t> </a:t>
                </a:r>
              </a:p>
            </p:txBody>
          </p:sp>
        </mc:Fallback>
      </mc:AlternateContent>
      <p:sp>
        <p:nvSpPr>
          <p:cNvPr id="176" name="Google Shape;176;p18">
            <a:extLst>
              <a:ext uri="{FF2B5EF4-FFF2-40B4-BE49-F238E27FC236}">
                <a16:creationId xmlns:a16="http://schemas.microsoft.com/office/drawing/2014/main" id="{2422C0C9-E993-97CF-1845-EABE7B62BD2B}"/>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Pipeline Step 1 - </a:t>
            </a:r>
            <a:r>
              <a:rPr lang="it-IT" sz="3150" b="1" dirty="0" err="1">
                <a:solidFill>
                  <a:srgbClr val="0F172A"/>
                </a:solidFill>
                <a:latin typeface="Poppins"/>
                <a:cs typeface="Poppins"/>
              </a:rPr>
              <a:t>Normalization</a:t>
            </a:r>
            <a:r>
              <a:rPr lang="it-IT" sz="3150" b="1" dirty="0">
                <a:solidFill>
                  <a:srgbClr val="0F172A"/>
                </a:solidFill>
                <a:latin typeface="Poppins"/>
                <a:cs typeface="Poppins"/>
              </a:rPr>
              <a:t> (Z-Score)</a:t>
            </a:r>
          </a:p>
          <a:p>
            <a:pPr marL="0" marR="0" lvl="0" indent="0" algn="l" rtl="0">
              <a:lnSpc>
                <a:spcPct val="110000"/>
              </a:lnSpc>
              <a:spcBef>
                <a:spcPts val="0"/>
              </a:spcBef>
              <a:spcAft>
                <a:spcPts val="0"/>
              </a:spcAft>
              <a:buNone/>
            </a:pPr>
            <a:endParaRPr dirty="0"/>
          </a:p>
        </p:txBody>
      </p:sp>
      <p:pic>
        <p:nvPicPr>
          <p:cNvPr id="5" name="Immagine 4">
            <a:extLst>
              <a:ext uri="{FF2B5EF4-FFF2-40B4-BE49-F238E27FC236}">
                <a16:creationId xmlns:a16="http://schemas.microsoft.com/office/drawing/2014/main" id="{E57D3B8C-475C-83BD-3466-22603473F853}"/>
              </a:ext>
            </a:extLst>
          </p:cNvPr>
          <p:cNvPicPr>
            <a:picLocks noChangeAspect="1"/>
          </p:cNvPicPr>
          <p:nvPr/>
        </p:nvPicPr>
        <p:blipFill>
          <a:blip r:embed="rId5"/>
          <a:stretch>
            <a:fillRect/>
          </a:stretch>
        </p:blipFill>
        <p:spPr>
          <a:xfrm>
            <a:off x="3401100" y="2708389"/>
            <a:ext cx="5100643" cy="3357385"/>
          </a:xfrm>
          <a:prstGeom prst="rect">
            <a:avLst/>
          </a:prstGeom>
        </p:spPr>
      </p:pic>
    </p:spTree>
    <p:extLst>
      <p:ext uri="{BB962C8B-B14F-4D97-AF65-F5344CB8AC3E}">
        <p14:creationId xmlns:p14="http://schemas.microsoft.com/office/powerpoint/2010/main" val="208715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D2BB86A4-EEC7-09BB-43C6-679054CE406C}"/>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E92AC2D5-6870-02F2-13BD-4E63F85D4C2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9" name="Google Shape;159;p18">
            <a:extLst>
              <a:ext uri="{FF2B5EF4-FFF2-40B4-BE49-F238E27FC236}">
                <a16:creationId xmlns:a16="http://schemas.microsoft.com/office/drawing/2014/main" id="{13D88DE8-144A-F722-55F3-81AA53C57E11}"/>
              </a:ext>
            </a:extLst>
          </p:cNvPr>
          <p:cNvSpPr txBox="1"/>
          <p:nvPr/>
        </p:nvSpPr>
        <p:spPr>
          <a:xfrm>
            <a:off x="510554" y="1244630"/>
            <a:ext cx="11225921" cy="1154162"/>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After </a:t>
            </a:r>
            <a:r>
              <a:rPr lang="it-IT" sz="1500" dirty="0" err="1">
                <a:solidFill>
                  <a:srgbClr val="334155"/>
                </a:solidFill>
                <a:latin typeface="Inter"/>
                <a:ea typeface="Inter"/>
              </a:rPr>
              <a:t>normalization</a:t>
            </a:r>
            <a:r>
              <a:rPr lang="it-IT" sz="1500" dirty="0">
                <a:solidFill>
                  <a:srgbClr val="334155"/>
                </a:solidFill>
                <a:latin typeface="Inter"/>
                <a:ea typeface="Inter"/>
              </a:rPr>
              <a:t>, the </a:t>
            </a:r>
            <a:r>
              <a:rPr lang="it-IT" sz="1500" dirty="0" err="1">
                <a:solidFill>
                  <a:srgbClr val="334155"/>
                </a:solidFill>
                <a:latin typeface="Inter"/>
                <a:ea typeface="Inter"/>
              </a:rPr>
              <a:t>continuous</a:t>
            </a:r>
            <a:r>
              <a:rPr lang="it-IT" sz="1500" dirty="0">
                <a:solidFill>
                  <a:srgbClr val="334155"/>
                </a:solidFill>
                <a:latin typeface="Inter"/>
                <a:ea typeface="Inter"/>
              </a:rPr>
              <a:t> </a:t>
            </a:r>
            <a:r>
              <a:rPr lang="it-IT" sz="1500" dirty="0" err="1">
                <a:solidFill>
                  <a:srgbClr val="334155"/>
                </a:solidFill>
                <a:latin typeface="Inter"/>
                <a:ea typeface="Inter"/>
              </a:rPr>
              <a:t>physiological</a:t>
            </a:r>
            <a:r>
              <a:rPr lang="it-IT" sz="1500" dirty="0">
                <a:solidFill>
                  <a:srgbClr val="334155"/>
                </a:solidFill>
                <a:latin typeface="Inter"/>
                <a:ea typeface="Inter"/>
              </a:rPr>
              <a:t> </a:t>
            </a:r>
            <a:r>
              <a:rPr lang="it-IT" sz="1500" dirty="0" err="1">
                <a:solidFill>
                  <a:srgbClr val="334155"/>
                </a:solidFill>
                <a:latin typeface="Inter"/>
                <a:ea typeface="Inter"/>
              </a:rPr>
              <a:t>signals</a:t>
            </a:r>
            <a:r>
              <a:rPr lang="it-IT" sz="1500" dirty="0">
                <a:solidFill>
                  <a:srgbClr val="334155"/>
                </a:solidFill>
                <a:latin typeface="Inter"/>
                <a:ea typeface="Inter"/>
              </a:rPr>
              <a:t> are </a:t>
            </a:r>
            <a:r>
              <a:rPr lang="it-IT" sz="1500" dirty="0" err="1">
                <a:solidFill>
                  <a:srgbClr val="334155"/>
                </a:solidFill>
                <a:latin typeface="Inter"/>
                <a:ea typeface="Inter"/>
              </a:rPr>
              <a:t>segmented</a:t>
            </a:r>
            <a:r>
              <a:rPr lang="it-IT" sz="1500" dirty="0">
                <a:solidFill>
                  <a:srgbClr val="334155"/>
                </a:solidFill>
                <a:latin typeface="Inter"/>
                <a:ea typeface="Inter"/>
              </a:rPr>
              <a:t> </a:t>
            </a:r>
            <a:r>
              <a:rPr lang="it-IT" sz="1500" dirty="0" err="1">
                <a:solidFill>
                  <a:srgbClr val="334155"/>
                </a:solidFill>
                <a:latin typeface="Inter"/>
                <a:ea typeface="Inter"/>
              </a:rPr>
              <a:t>into</a:t>
            </a:r>
            <a:r>
              <a:rPr lang="it-IT" sz="1500" dirty="0">
                <a:solidFill>
                  <a:srgbClr val="334155"/>
                </a:solidFill>
                <a:latin typeface="Inter"/>
                <a:ea typeface="Inter"/>
              </a:rPr>
              <a:t> 60-second sliding windows with a 50% </a:t>
            </a:r>
            <a:r>
              <a:rPr lang="it-IT" sz="1500" dirty="0" err="1">
                <a:solidFill>
                  <a:srgbClr val="334155"/>
                </a:solidFill>
                <a:latin typeface="Inter"/>
                <a:ea typeface="Inter"/>
              </a:rPr>
              <a:t>overlap</a:t>
            </a:r>
            <a:r>
              <a:rPr lang="it-IT" sz="1500" dirty="0">
                <a:solidFill>
                  <a:srgbClr val="334155"/>
                </a:solidFill>
                <a:latin typeface="Inter"/>
                <a:ea typeface="Inter"/>
              </a:rPr>
              <a:t>. </a:t>
            </a:r>
            <a:r>
              <a:rPr lang="en-GB" sz="1500" dirty="0">
                <a:solidFill>
                  <a:srgbClr val="334155"/>
                </a:solidFill>
                <a:latin typeface="Inter"/>
                <a:ea typeface="Inter"/>
              </a:rPr>
              <a:t>The overlap doubles our training instances without cutting stress peaks in half.</a:t>
            </a:r>
            <a:br>
              <a:rPr lang="en-GB" sz="1500" dirty="0">
                <a:solidFill>
                  <a:srgbClr val="334155"/>
                </a:solidFill>
                <a:latin typeface="Inter"/>
                <a:ea typeface="Inter"/>
              </a:rPr>
            </a:br>
            <a:r>
              <a:rPr lang="en-GB" sz="1500" dirty="0">
                <a:solidFill>
                  <a:srgbClr val="334155"/>
                </a:solidFill>
                <a:latin typeface="Inter"/>
                <a:ea typeface="Inter"/>
              </a:rPr>
              <a:t>During development, I tested shorter 30-second windows, but the Macro F1-score dropped to 84.38%. The reason is biological: electrodermal responses are slow, taking 2 to 5 seconds to activate and several seconds to recover. A 60-second window is scientifically necessary to capture the complete temporal evolution of a sweat reaction.</a:t>
            </a:r>
            <a:endParaRPr sz="1500" dirty="0">
              <a:solidFill>
                <a:srgbClr val="334155"/>
              </a:solidFill>
              <a:latin typeface="Inter"/>
              <a:ea typeface="Inter"/>
            </a:endParaRPr>
          </a:p>
        </p:txBody>
      </p:sp>
      <p:sp>
        <p:nvSpPr>
          <p:cNvPr id="176" name="Google Shape;176;p18">
            <a:extLst>
              <a:ext uri="{FF2B5EF4-FFF2-40B4-BE49-F238E27FC236}">
                <a16:creationId xmlns:a16="http://schemas.microsoft.com/office/drawing/2014/main" id="{4CDD689C-584F-939C-2BDA-491BFD40F5B6}"/>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Pipeline Step 2 - </a:t>
            </a:r>
            <a:r>
              <a:rPr lang="it-IT" sz="3150" b="1" dirty="0" err="1">
                <a:solidFill>
                  <a:srgbClr val="0F172A"/>
                </a:solidFill>
                <a:latin typeface="Poppins"/>
                <a:cs typeface="Poppins"/>
              </a:rPr>
              <a:t>Windowing</a:t>
            </a:r>
            <a:r>
              <a:rPr lang="it-IT" sz="3150" b="1" dirty="0">
                <a:solidFill>
                  <a:srgbClr val="0F172A"/>
                </a:solidFill>
                <a:latin typeface="Poppins"/>
                <a:cs typeface="Poppins"/>
              </a:rPr>
              <a:t> &amp; feature </a:t>
            </a:r>
            <a:r>
              <a:rPr lang="it-IT" sz="3150" b="1" dirty="0" err="1">
                <a:solidFill>
                  <a:srgbClr val="0F172A"/>
                </a:solidFill>
                <a:latin typeface="Poppins"/>
                <a:cs typeface="Poppins"/>
              </a:rPr>
              <a:t>extraction</a:t>
            </a:r>
            <a:endParaRPr lang="it-IT" sz="3150" b="1" dirty="0">
              <a:solidFill>
                <a:srgbClr val="0F172A"/>
              </a:solidFill>
              <a:latin typeface="Poppins"/>
              <a:cs typeface="Poppins"/>
            </a:endParaRPr>
          </a:p>
          <a:p>
            <a:pPr>
              <a:lnSpc>
                <a:spcPct val="110000"/>
              </a:lnSpc>
            </a:pPr>
            <a:endParaRPr dirty="0"/>
          </a:p>
        </p:txBody>
      </p:sp>
      <p:pic>
        <p:nvPicPr>
          <p:cNvPr id="3" name="Immagine 2">
            <a:extLst>
              <a:ext uri="{FF2B5EF4-FFF2-40B4-BE49-F238E27FC236}">
                <a16:creationId xmlns:a16="http://schemas.microsoft.com/office/drawing/2014/main" id="{3691EA97-35FC-8C42-9B70-4014BEFE94A8}"/>
              </a:ext>
            </a:extLst>
          </p:cNvPr>
          <p:cNvPicPr>
            <a:picLocks noChangeAspect="1"/>
          </p:cNvPicPr>
          <p:nvPr/>
        </p:nvPicPr>
        <p:blipFill>
          <a:blip r:embed="rId4"/>
          <a:stretch>
            <a:fillRect/>
          </a:stretch>
        </p:blipFill>
        <p:spPr>
          <a:xfrm>
            <a:off x="2968113" y="2805834"/>
            <a:ext cx="5749636" cy="3833091"/>
          </a:xfrm>
          <a:prstGeom prst="rect">
            <a:avLst/>
          </a:prstGeom>
        </p:spPr>
      </p:pic>
    </p:spTree>
    <p:extLst>
      <p:ext uri="{BB962C8B-B14F-4D97-AF65-F5344CB8AC3E}">
        <p14:creationId xmlns:p14="http://schemas.microsoft.com/office/powerpoint/2010/main" val="129901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3" name="Google Shape;183;p19" descr="image.png"/>
          <p:cNvPicPr preferRelativeResize="0"/>
          <p:nvPr/>
        </p:nvPicPr>
        <p:blipFill rotWithShape="1">
          <a:blip r:embed="rId4">
            <a:alphaModFix/>
          </a:blip>
          <a:srcRect/>
          <a:stretch/>
        </p:blipFill>
        <p:spPr>
          <a:xfrm>
            <a:off x="714375" y="1986855"/>
            <a:ext cx="3397150" cy="3562350"/>
          </a:xfrm>
          <a:prstGeom prst="rect">
            <a:avLst/>
          </a:prstGeom>
          <a:noFill/>
          <a:ln>
            <a:noFill/>
          </a:ln>
        </p:spPr>
      </p:pic>
      <p:pic>
        <p:nvPicPr>
          <p:cNvPr id="184" name="Google Shape;184;p19" descr="image.png"/>
          <p:cNvPicPr preferRelativeResize="0"/>
          <p:nvPr/>
        </p:nvPicPr>
        <p:blipFill rotWithShape="1">
          <a:blip r:embed="rId5">
            <a:alphaModFix/>
          </a:blip>
          <a:srcRect/>
          <a:stretch/>
        </p:blipFill>
        <p:spPr>
          <a:xfrm>
            <a:off x="4397275" y="1986855"/>
            <a:ext cx="3397299" cy="3562350"/>
          </a:xfrm>
          <a:prstGeom prst="rect">
            <a:avLst/>
          </a:prstGeom>
          <a:noFill/>
          <a:ln>
            <a:noFill/>
          </a:ln>
        </p:spPr>
      </p:pic>
      <p:pic>
        <p:nvPicPr>
          <p:cNvPr id="185" name="Google Shape;185;p19" descr="image.png"/>
          <p:cNvPicPr preferRelativeResize="0"/>
          <p:nvPr/>
        </p:nvPicPr>
        <p:blipFill rotWithShape="1">
          <a:blip r:embed="rId6">
            <a:alphaModFix/>
          </a:blip>
          <a:srcRect/>
          <a:stretch/>
        </p:blipFill>
        <p:spPr>
          <a:xfrm>
            <a:off x="8080325" y="1986855"/>
            <a:ext cx="3397150" cy="3562350"/>
          </a:xfrm>
          <a:prstGeom prst="rect">
            <a:avLst/>
          </a:prstGeom>
          <a:noFill/>
          <a:ln>
            <a:noFill/>
          </a:ln>
        </p:spPr>
      </p:pic>
      <p:pic>
        <p:nvPicPr>
          <p:cNvPr id="186" name="Google Shape;186;p19" descr="image.png"/>
          <p:cNvPicPr preferRelativeResize="0"/>
          <p:nvPr/>
        </p:nvPicPr>
        <p:blipFill rotWithShape="1">
          <a:blip r:embed="rId7">
            <a:alphaModFix/>
          </a:blip>
          <a:srcRect/>
          <a:stretch/>
        </p:blipFill>
        <p:spPr>
          <a:xfrm>
            <a:off x="2008137" y="2377380"/>
            <a:ext cx="809625" cy="809625"/>
          </a:xfrm>
          <a:prstGeom prst="rect">
            <a:avLst/>
          </a:prstGeom>
          <a:noFill/>
          <a:ln>
            <a:noFill/>
          </a:ln>
        </p:spPr>
      </p:pic>
      <p:sp>
        <p:nvSpPr>
          <p:cNvPr id="187" name="Google Shape;187;p19"/>
          <p:cNvSpPr txBox="1"/>
          <p:nvPr/>
        </p:nvSpPr>
        <p:spPr>
          <a:xfrm>
            <a:off x="1287809" y="3396555"/>
            <a:ext cx="2250281"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Poppins"/>
                <a:ea typeface="Poppins"/>
                <a:cs typeface="Poppins"/>
                <a:sym typeface="Poppins"/>
              </a:rPr>
              <a:t>Statistical Metrics</a:t>
            </a:r>
            <a:endParaRPr/>
          </a:p>
        </p:txBody>
      </p:sp>
      <p:sp>
        <p:nvSpPr>
          <p:cNvPr id="188" name="Google Shape;188;p19"/>
          <p:cNvSpPr txBox="1"/>
          <p:nvPr/>
        </p:nvSpPr>
        <p:spPr>
          <a:xfrm>
            <a:off x="1009650" y="3872805"/>
            <a:ext cx="28066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Extracting Mean, Standard Deviation, Minimum, and Maximum markers across BVP and EDA raw signal segments to capture static changes.</a:t>
            </a:r>
            <a:endParaRPr/>
          </a:p>
        </p:txBody>
      </p:sp>
      <p:pic>
        <p:nvPicPr>
          <p:cNvPr id="189" name="Google Shape;189;p19" descr="image.png"/>
          <p:cNvPicPr preferRelativeResize="0"/>
          <p:nvPr/>
        </p:nvPicPr>
        <p:blipFill rotWithShape="1">
          <a:blip r:embed="rId8">
            <a:alphaModFix/>
          </a:blip>
          <a:srcRect/>
          <a:stretch/>
        </p:blipFill>
        <p:spPr>
          <a:xfrm>
            <a:off x="5691038" y="2377380"/>
            <a:ext cx="809625" cy="809625"/>
          </a:xfrm>
          <a:prstGeom prst="rect">
            <a:avLst/>
          </a:prstGeom>
          <a:noFill/>
          <a:ln>
            <a:noFill/>
          </a:ln>
        </p:spPr>
      </p:pic>
      <p:sp>
        <p:nvSpPr>
          <p:cNvPr id="190" name="Google Shape;190;p19"/>
          <p:cNvSpPr txBox="1"/>
          <p:nvPr/>
        </p:nvSpPr>
        <p:spPr>
          <a:xfrm>
            <a:off x="4840694" y="3396555"/>
            <a:ext cx="2510313"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Poppins"/>
                <a:ea typeface="Poppins"/>
                <a:cs typeface="Poppins"/>
                <a:sym typeface="Poppins"/>
              </a:rPr>
              <a:t>Signal Energy (RMS)</a:t>
            </a:r>
            <a:endParaRPr/>
          </a:p>
        </p:txBody>
      </p:sp>
      <p:sp>
        <p:nvSpPr>
          <p:cNvPr id="191" name="Google Shape;191;p19"/>
          <p:cNvSpPr txBox="1"/>
          <p:nvPr/>
        </p:nvSpPr>
        <p:spPr>
          <a:xfrm>
            <a:off x="4692550" y="3715493"/>
            <a:ext cx="2806749"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334155"/>
                </a:solidFill>
                <a:latin typeface="Inter"/>
                <a:ea typeface="Inter"/>
                <a:cs typeface="Inter"/>
                <a:sym typeface="Inter"/>
              </a:rPr>
              <a:t>Calculating the Root Mean Square (RMS) value within the 60s sliding windows to represent dynamic physical and sympathetic signal power changes.</a:t>
            </a:r>
            <a:endParaRPr dirty="0"/>
          </a:p>
        </p:txBody>
      </p:sp>
      <p:pic>
        <p:nvPicPr>
          <p:cNvPr id="192" name="Google Shape;192;p19" descr="image.png"/>
          <p:cNvPicPr preferRelativeResize="0"/>
          <p:nvPr/>
        </p:nvPicPr>
        <p:blipFill rotWithShape="1">
          <a:blip r:embed="rId9">
            <a:alphaModFix/>
          </a:blip>
          <a:srcRect/>
          <a:stretch/>
        </p:blipFill>
        <p:spPr>
          <a:xfrm>
            <a:off x="9374088" y="2377380"/>
            <a:ext cx="809625" cy="809625"/>
          </a:xfrm>
          <a:prstGeom prst="rect">
            <a:avLst/>
          </a:prstGeom>
          <a:noFill/>
          <a:ln>
            <a:noFill/>
          </a:ln>
        </p:spPr>
      </p:pic>
      <p:sp>
        <p:nvSpPr>
          <p:cNvPr id="193" name="Google Shape;193;p19"/>
          <p:cNvSpPr txBox="1"/>
          <p:nvPr/>
        </p:nvSpPr>
        <p:spPr>
          <a:xfrm>
            <a:off x="8658760" y="3396555"/>
            <a:ext cx="224028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Poppins"/>
                <a:ea typeface="Poppins"/>
                <a:cs typeface="Poppins"/>
                <a:sym typeface="Poppins"/>
              </a:rPr>
              <a:t>Directional Slopes</a:t>
            </a:r>
            <a:endParaRPr/>
          </a:p>
        </p:txBody>
      </p:sp>
      <p:sp>
        <p:nvSpPr>
          <p:cNvPr id="194" name="Google Shape;194;p19"/>
          <p:cNvSpPr txBox="1"/>
          <p:nvPr/>
        </p:nvSpPr>
        <p:spPr>
          <a:xfrm>
            <a:off x="8375600" y="3872805"/>
            <a:ext cx="28066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Determining the </a:t>
            </a:r>
            <a:r>
              <a:rPr lang="en-US" sz="1350" b="0" i="0" u="none" strike="noStrike" cap="none">
                <a:solidFill>
                  <a:srgbClr val="0F172A"/>
                </a:solidFill>
                <a:latin typeface="Inter SemiBold"/>
                <a:ea typeface="Inter SemiBold"/>
                <a:cs typeface="Inter SemiBold"/>
                <a:sym typeface="Inter SemiBold"/>
              </a:rPr>
              <a:t>eda_slope</a:t>
            </a:r>
            <a:r>
              <a:rPr lang="en-US" sz="1350" b="0" i="0" u="none" strike="noStrike" cap="none">
                <a:solidFill>
                  <a:srgbClr val="334155"/>
                </a:solidFill>
                <a:latin typeface="Inter"/>
                <a:ea typeface="Inter"/>
                <a:cs typeface="Inter"/>
                <a:sym typeface="Inter"/>
              </a:rPr>
              <a:t> (difference between window end and window start) to index sudden spikes in sympathetic stress sweat.</a:t>
            </a:r>
            <a:endParaRPr/>
          </a:p>
        </p:txBody>
      </p:sp>
      <p:pic>
        <p:nvPicPr>
          <p:cNvPr id="195" name="Google Shape;195;p19" descr="image.png"/>
          <p:cNvPicPr preferRelativeResize="0"/>
          <p:nvPr/>
        </p:nvPicPr>
        <p:blipFill rotWithShape="1">
          <a:blip r:embed="rId10">
            <a:alphaModFix/>
          </a:blip>
          <a:srcRect/>
          <a:stretch/>
        </p:blipFill>
        <p:spPr>
          <a:xfrm>
            <a:off x="2212925" y="2582167"/>
            <a:ext cx="400050" cy="400050"/>
          </a:xfrm>
          <a:prstGeom prst="rect">
            <a:avLst/>
          </a:prstGeom>
          <a:noFill/>
          <a:ln>
            <a:noFill/>
          </a:ln>
        </p:spPr>
      </p:pic>
      <p:pic>
        <p:nvPicPr>
          <p:cNvPr id="196" name="Google Shape;196;p19" descr="image.png"/>
          <p:cNvPicPr preferRelativeResize="0"/>
          <p:nvPr/>
        </p:nvPicPr>
        <p:blipFill rotWithShape="1">
          <a:blip r:embed="rId11">
            <a:alphaModFix/>
          </a:blip>
          <a:srcRect/>
          <a:stretch/>
        </p:blipFill>
        <p:spPr>
          <a:xfrm>
            <a:off x="5919638" y="2582167"/>
            <a:ext cx="352425" cy="400050"/>
          </a:xfrm>
          <a:prstGeom prst="rect">
            <a:avLst/>
          </a:prstGeom>
          <a:noFill/>
          <a:ln>
            <a:noFill/>
          </a:ln>
        </p:spPr>
      </p:pic>
      <p:pic>
        <p:nvPicPr>
          <p:cNvPr id="197" name="Google Shape;197;p19" descr="image.png"/>
          <p:cNvPicPr preferRelativeResize="0"/>
          <p:nvPr/>
        </p:nvPicPr>
        <p:blipFill rotWithShape="1">
          <a:blip r:embed="rId12">
            <a:alphaModFix/>
          </a:blip>
          <a:srcRect/>
          <a:stretch/>
        </p:blipFill>
        <p:spPr>
          <a:xfrm>
            <a:off x="9555063" y="2582167"/>
            <a:ext cx="447675" cy="400050"/>
          </a:xfrm>
          <a:prstGeom prst="rect">
            <a:avLst/>
          </a:prstGeom>
          <a:noFill/>
          <a:ln>
            <a:noFill/>
          </a:ln>
        </p:spPr>
      </p:pic>
      <p:sp>
        <p:nvSpPr>
          <p:cNvPr id="198" name="Google Shape;198;p19"/>
          <p:cNvSpPr txBox="1"/>
          <p:nvPr/>
        </p:nvSpPr>
        <p:spPr>
          <a:xfrm>
            <a:off x="904875" y="523875"/>
            <a:ext cx="11101387" cy="43993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a:solidFill>
                  <a:srgbClr val="0F172A"/>
                </a:solidFill>
                <a:latin typeface="Poppins"/>
                <a:ea typeface="Poppins"/>
                <a:cs typeface="Poppins"/>
                <a:sym typeface="Poppins"/>
              </a:rPr>
              <a:t>Signal Feature Engineering</a:t>
            </a:r>
            <a:endParaRPr/>
          </a:p>
        </p:txBody>
      </p:sp>
      <p:sp>
        <p:nvSpPr>
          <p:cNvPr id="2" name="CasellaDiTesto 1">
            <a:extLst>
              <a:ext uri="{FF2B5EF4-FFF2-40B4-BE49-F238E27FC236}">
                <a16:creationId xmlns:a16="http://schemas.microsoft.com/office/drawing/2014/main" id="{F12348C0-78E7-F8F1-DB2A-E8F4FA52A064}"/>
              </a:ext>
            </a:extLst>
          </p:cNvPr>
          <p:cNvSpPr txBox="1"/>
          <p:nvPr/>
        </p:nvSpPr>
        <p:spPr>
          <a:xfrm>
            <a:off x="904875" y="1386348"/>
            <a:ext cx="10648028" cy="323165"/>
          </a:xfrm>
          <a:prstGeom prst="rect">
            <a:avLst/>
          </a:prstGeom>
          <a:noFill/>
        </p:spPr>
        <p:txBody>
          <a:bodyPr wrap="square" rtlCol="0">
            <a:spAutoFit/>
          </a:bodyPr>
          <a:lstStyle/>
          <a:p>
            <a:r>
              <a:rPr lang="it-IT" sz="1500" dirty="0">
                <a:solidFill>
                  <a:srgbClr val="334155"/>
                </a:solidFill>
                <a:latin typeface="Inter"/>
                <a:ea typeface="Inter"/>
              </a:rPr>
              <a:t>From </a:t>
            </a:r>
            <a:r>
              <a:rPr lang="it-IT" sz="1500" dirty="0" err="1">
                <a:solidFill>
                  <a:srgbClr val="334155"/>
                </a:solidFill>
                <a:latin typeface="Inter"/>
                <a:ea typeface="Inter"/>
              </a:rPr>
              <a:t>these</a:t>
            </a:r>
            <a:r>
              <a:rPr lang="it-IT" sz="1500" dirty="0">
                <a:solidFill>
                  <a:srgbClr val="334155"/>
                </a:solidFill>
                <a:latin typeface="Inter"/>
                <a:ea typeface="Inter"/>
              </a:rPr>
              <a:t> </a:t>
            </a:r>
            <a:r>
              <a:rPr lang="it-IT" sz="1500" dirty="0" err="1">
                <a:solidFill>
                  <a:srgbClr val="334155"/>
                </a:solidFill>
                <a:latin typeface="Inter"/>
                <a:ea typeface="Inter"/>
              </a:rPr>
              <a:t>intervals</a:t>
            </a:r>
            <a:r>
              <a:rPr lang="it-IT" sz="1500" dirty="0">
                <a:solidFill>
                  <a:srgbClr val="334155"/>
                </a:solidFill>
                <a:latin typeface="Inter"/>
                <a:ea typeface="Inter"/>
              </a:rPr>
              <a:t>, </a:t>
            </a:r>
            <a:r>
              <a:rPr lang="it-IT" sz="1500" dirty="0" err="1">
                <a:solidFill>
                  <a:srgbClr val="334155"/>
                </a:solidFill>
                <a:latin typeface="Inter"/>
                <a:ea typeface="Inter"/>
              </a:rPr>
              <a:t>instead</a:t>
            </a:r>
            <a:r>
              <a:rPr lang="it-IT" sz="1500" dirty="0">
                <a:solidFill>
                  <a:srgbClr val="334155"/>
                </a:solidFill>
                <a:latin typeface="Inter"/>
                <a:ea typeface="Inter"/>
              </a:rPr>
              <a:t> of </a:t>
            </a:r>
            <a:r>
              <a:rPr lang="it-IT" sz="1500" dirty="0" err="1">
                <a:solidFill>
                  <a:srgbClr val="334155"/>
                </a:solidFill>
                <a:latin typeface="Inter"/>
                <a:ea typeface="Inter"/>
              </a:rPr>
              <a:t>feeding</a:t>
            </a:r>
            <a:r>
              <a:rPr lang="it-IT" sz="1500" dirty="0">
                <a:solidFill>
                  <a:srgbClr val="334155"/>
                </a:solidFill>
                <a:latin typeface="Inter"/>
                <a:ea typeface="Inter"/>
              </a:rPr>
              <a:t> </a:t>
            </a:r>
            <a:r>
              <a:rPr lang="it-IT" sz="1500" dirty="0" err="1">
                <a:solidFill>
                  <a:srgbClr val="334155"/>
                </a:solidFill>
                <a:latin typeface="Inter"/>
                <a:ea typeface="Inter"/>
              </a:rPr>
              <a:t>raw</a:t>
            </a:r>
            <a:r>
              <a:rPr lang="it-IT" sz="1500" dirty="0">
                <a:solidFill>
                  <a:srgbClr val="334155"/>
                </a:solidFill>
                <a:latin typeface="Inter"/>
                <a:ea typeface="Inter"/>
              </a:rPr>
              <a:t> data, I </a:t>
            </a:r>
            <a:r>
              <a:rPr lang="it-IT" sz="1500" dirty="0" err="1">
                <a:solidFill>
                  <a:srgbClr val="334155"/>
                </a:solidFill>
                <a:latin typeface="Inter"/>
                <a:ea typeface="Inter"/>
              </a:rPr>
              <a:t>engineered</a:t>
            </a:r>
            <a:r>
              <a:rPr lang="it-IT" sz="1500" dirty="0">
                <a:solidFill>
                  <a:srgbClr val="334155"/>
                </a:solidFill>
                <a:latin typeface="Inter"/>
                <a:ea typeface="Inter"/>
              </a:rPr>
              <a:t> </a:t>
            </a:r>
            <a:r>
              <a:rPr lang="it-IT" sz="1500" dirty="0" err="1">
                <a:solidFill>
                  <a:srgbClr val="334155"/>
                </a:solidFill>
                <a:latin typeface="Inter"/>
                <a:ea typeface="Inter"/>
              </a:rPr>
              <a:t>specific</a:t>
            </a:r>
            <a:r>
              <a:rPr lang="it-IT" sz="1500" dirty="0">
                <a:solidFill>
                  <a:srgbClr val="334155"/>
                </a:solidFill>
                <a:latin typeface="Inter"/>
                <a:ea typeface="Inter"/>
              </a:rPr>
              <a:t> tabular features:</a:t>
            </a:r>
            <a:endParaRPr lang="it-IT"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3DBA34BB-4B46-D2C9-DF3E-88AC5A7C7575}"/>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62992CA7-04BF-A335-E170-3BE170835B7E}"/>
              </a:ext>
            </a:extLst>
          </p:cNvPr>
          <p:cNvPicPr preferRelativeResize="0"/>
          <p:nvPr/>
        </p:nvPicPr>
        <p:blipFill rotWithShape="1">
          <a:blip r:embed="rId3">
            <a:alphaModFix/>
          </a:blip>
          <a:srcRect/>
          <a:stretch/>
        </p:blipFill>
        <p:spPr>
          <a:xfrm>
            <a:off x="0" y="0"/>
            <a:ext cx="12191999" cy="6858000"/>
          </a:xfrm>
          <a:prstGeom prst="rect">
            <a:avLst/>
          </a:prstGeom>
          <a:noFill/>
          <a:ln>
            <a:noFill/>
          </a:ln>
        </p:spPr>
      </p:pic>
      <p:sp>
        <p:nvSpPr>
          <p:cNvPr id="159" name="Google Shape;159;p18">
            <a:extLst>
              <a:ext uri="{FF2B5EF4-FFF2-40B4-BE49-F238E27FC236}">
                <a16:creationId xmlns:a16="http://schemas.microsoft.com/office/drawing/2014/main" id="{15ACB8DB-45C2-9BFC-C448-5EAF78893CFA}"/>
              </a:ext>
            </a:extLst>
          </p:cNvPr>
          <p:cNvSpPr txBox="1"/>
          <p:nvPr/>
        </p:nvSpPr>
        <p:spPr>
          <a:xfrm>
            <a:off x="483039" y="1258328"/>
            <a:ext cx="11225921" cy="923330"/>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To handle the </a:t>
            </a:r>
            <a:r>
              <a:rPr lang="it-IT" sz="1500" dirty="0" err="1">
                <a:solidFill>
                  <a:srgbClr val="334155"/>
                </a:solidFill>
                <a:latin typeface="Inter"/>
                <a:ea typeface="Inter"/>
              </a:rPr>
              <a:t>realistic</a:t>
            </a:r>
            <a:r>
              <a:rPr lang="it-IT" sz="1500" dirty="0">
                <a:solidFill>
                  <a:srgbClr val="334155"/>
                </a:solidFill>
                <a:latin typeface="Inter"/>
                <a:ea typeface="Inter"/>
              </a:rPr>
              <a:t> </a:t>
            </a:r>
            <a:r>
              <a:rPr lang="it-IT" sz="1500" dirty="0">
                <a:solidFill>
                  <a:schemeClr val="accent5"/>
                </a:solidFill>
                <a:latin typeface="Inter"/>
                <a:ea typeface="Inter"/>
              </a:rPr>
              <a:t>80:20 </a:t>
            </a:r>
            <a:r>
              <a:rPr lang="it-IT" sz="1500" dirty="0" err="1">
                <a:solidFill>
                  <a:schemeClr val="accent5"/>
                </a:solidFill>
                <a:latin typeface="Inter"/>
                <a:ea typeface="Inter"/>
              </a:rPr>
              <a:t>imbalance</a:t>
            </a:r>
            <a:r>
              <a:rPr lang="it-IT" sz="1500" dirty="0">
                <a:solidFill>
                  <a:schemeClr val="accent5"/>
                </a:solidFill>
                <a:latin typeface="Inter"/>
                <a:ea typeface="Inter"/>
              </a:rPr>
              <a:t> </a:t>
            </a:r>
            <a:r>
              <a:rPr lang="it-IT" sz="1500" dirty="0" err="1">
                <a:solidFill>
                  <a:srgbClr val="334155"/>
                </a:solidFill>
                <a:latin typeface="Inter"/>
                <a:ea typeface="Inter"/>
              </a:rPr>
              <a:t>between</a:t>
            </a:r>
            <a:r>
              <a:rPr lang="it-IT" sz="1500" dirty="0">
                <a:solidFill>
                  <a:srgbClr val="334155"/>
                </a:solidFill>
                <a:latin typeface="Inter"/>
                <a:ea typeface="Inter"/>
              </a:rPr>
              <a:t> </a:t>
            </a:r>
            <a:r>
              <a:rPr lang="it-IT" sz="1500" dirty="0" err="1">
                <a:solidFill>
                  <a:srgbClr val="334155"/>
                </a:solidFill>
                <a:latin typeface="Inter"/>
                <a:ea typeface="Inter"/>
              </a:rPr>
              <a:t>calm</a:t>
            </a:r>
            <a:r>
              <a:rPr lang="it-IT" sz="1500" dirty="0">
                <a:solidFill>
                  <a:srgbClr val="334155"/>
                </a:solidFill>
                <a:latin typeface="Inter"/>
                <a:ea typeface="Inter"/>
              </a:rPr>
              <a:t> and </a:t>
            </a:r>
            <a:r>
              <a:rPr lang="it-IT" sz="1500" dirty="0" err="1">
                <a:solidFill>
                  <a:srgbClr val="334155"/>
                </a:solidFill>
                <a:latin typeface="Inter"/>
                <a:ea typeface="Inter"/>
              </a:rPr>
              <a:t>stressed</a:t>
            </a:r>
            <a:r>
              <a:rPr lang="it-IT" sz="1500" dirty="0">
                <a:solidFill>
                  <a:srgbClr val="334155"/>
                </a:solidFill>
                <a:latin typeface="Inter"/>
                <a:ea typeface="Inter"/>
              </a:rPr>
              <a:t> </a:t>
            </a:r>
            <a:r>
              <a:rPr lang="it-IT" sz="1500" dirty="0" err="1">
                <a:solidFill>
                  <a:srgbClr val="334155"/>
                </a:solidFill>
                <a:latin typeface="Inter"/>
                <a:ea typeface="Inter"/>
              </a:rPr>
              <a:t>states</a:t>
            </a:r>
            <a:r>
              <a:rPr lang="it-IT" sz="1500" dirty="0">
                <a:solidFill>
                  <a:srgbClr val="334155"/>
                </a:solidFill>
                <a:latin typeface="Inter"/>
                <a:ea typeface="Inter"/>
              </a:rPr>
              <a:t>, I </a:t>
            </a:r>
            <a:r>
              <a:rPr lang="it-IT" sz="1500" dirty="0" err="1">
                <a:solidFill>
                  <a:srgbClr val="334155"/>
                </a:solidFill>
                <a:latin typeface="Inter"/>
                <a:ea typeface="Inter"/>
              </a:rPr>
              <a:t>integrated</a:t>
            </a:r>
            <a:r>
              <a:rPr lang="it-IT" sz="1500" dirty="0">
                <a:solidFill>
                  <a:srgbClr val="334155"/>
                </a:solidFill>
                <a:latin typeface="Inter"/>
                <a:ea typeface="Inter"/>
              </a:rPr>
              <a:t> the </a:t>
            </a:r>
            <a:r>
              <a:rPr lang="it-IT" sz="1500" dirty="0">
                <a:solidFill>
                  <a:schemeClr val="accent5"/>
                </a:solidFill>
                <a:latin typeface="Inter"/>
                <a:ea typeface="Inter"/>
              </a:rPr>
              <a:t>SMOTE technique </a:t>
            </a:r>
            <a:r>
              <a:rPr lang="it-IT" sz="1500" dirty="0">
                <a:solidFill>
                  <a:srgbClr val="334155"/>
                </a:solidFill>
                <a:latin typeface="Inter"/>
                <a:ea typeface="Inter"/>
              </a:rPr>
              <a:t>to </a:t>
            </a:r>
            <a:r>
              <a:rPr lang="it-IT" sz="1500" dirty="0" err="1">
                <a:solidFill>
                  <a:srgbClr val="334155"/>
                </a:solidFill>
                <a:latin typeface="Inter"/>
                <a:ea typeface="Inter"/>
              </a:rPr>
              <a:t>artificially</a:t>
            </a:r>
            <a:r>
              <a:rPr lang="it-IT" sz="1500" dirty="0">
                <a:solidFill>
                  <a:srgbClr val="334155"/>
                </a:solidFill>
                <a:latin typeface="Inter"/>
                <a:ea typeface="Inter"/>
              </a:rPr>
              <a:t> </a:t>
            </a:r>
            <a:r>
              <a:rPr lang="it-IT" sz="1500" dirty="0" err="1">
                <a:solidFill>
                  <a:srgbClr val="334155"/>
                </a:solidFill>
                <a:latin typeface="Inter"/>
                <a:ea typeface="Inter"/>
              </a:rPr>
              <a:t>oversample</a:t>
            </a:r>
            <a:r>
              <a:rPr lang="it-IT" sz="1500" dirty="0">
                <a:solidFill>
                  <a:srgbClr val="334155"/>
                </a:solidFill>
                <a:latin typeface="Inter"/>
                <a:ea typeface="Inter"/>
              </a:rPr>
              <a:t> the </a:t>
            </a:r>
            <a:r>
              <a:rPr lang="it-IT" sz="1500" dirty="0" err="1">
                <a:solidFill>
                  <a:srgbClr val="334155"/>
                </a:solidFill>
                <a:latin typeface="Inter"/>
                <a:ea typeface="Inter"/>
              </a:rPr>
              <a:t>minority</a:t>
            </a:r>
            <a:r>
              <a:rPr lang="it-IT" sz="1500" dirty="0">
                <a:solidFill>
                  <a:srgbClr val="334155"/>
                </a:solidFill>
                <a:latin typeface="Inter"/>
                <a:ea typeface="Inter"/>
              </a:rPr>
              <a:t> class. </a:t>
            </a:r>
            <a:r>
              <a:rPr lang="it-IT" sz="1500" dirty="0" err="1">
                <a:solidFill>
                  <a:srgbClr val="334155"/>
                </a:solidFill>
                <a:latin typeface="Inter"/>
                <a:ea typeface="Inter"/>
              </a:rPr>
              <a:t>Crucially</a:t>
            </a:r>
            <a:r>
              <a:rPr lang="it-IT" sz="1500" dirty="0">
                <a:solidFill>
                  <a:srgbClr val="334155"/>
                </a:solidFill>
                <a:latin typeface="Inter"/>
                <a:ea typeface="Inter"/>
              </a:rPr>
              <a:t>, </a:t>
            </a:r>
            <a:r>
              <a:rPr lang="it-IT" sz="1500" dirty="0" err="1">
                <a:solidFill>
                  <a:srgbClr val="334155"/>
                </a:solidFill>
                <a:latin typeface="Inter"/>
                <a:ea typeface="Inter"/>
              </a:rPr>
              <a:t>this</a:t>
            </a:r>
            <a:r>
              <a:rPr lang="it-IT" sz="1500" dirty="0">
                <a:solidFill>
                  <a:srgbClr val="334155"/>
                </a:solidFill>
                <a:latin typeface="Inter"/>
                <a:ea typeface="Inter"/>
              </a:rPr>
              <a:t> </a:t>
            </a:r>
            <a:r>
              <a:rPr lang="it-IT" sz="1500" dirty="0" err="1">
                <a:solidFill>
                  <a:srgbClr val="334155"/>
                </a:solidFill>
                <a:latin typeface="Inter"/>
                <a:ea typeface="Inter"/>
              </a:rPr>
              <a:t>was</a:t>
            </a:r>
            <a:r>
              <a:rPr lang="it-IT" sz="1500" dirty="0">
                <a:solidFill>
                  <a:srgbClr val="334155"/>
                </a:solidFill>
                <a:latin typeface="Inter"/>
                <a:ea typeface="Inter"/>
              </a:rPr>
              <a:t> </a:t>
            </a:r>
            <a:r>
              <a:rPr lang="it-IT" sz="1500" dirty="0" err="1">
                <a:solidFill>
                  <a:srgbClr val="334155"/>
                </a:solidFill>
                <a:latin typeface="Inter"/>
                <a:ea typeface="Inter"/>
              </a:rPr>
              <a:t>applied</a:t>
            </a:r>
            <a:r>
              <a:rPr lang="it-IT" sz="1500" dirty="0">
                <a:solidFill>
                  <a:srgbClr val="334155"/>
                </a:solidFill>
                <a:latin typeface="Inter"/>
                <a:ea typeface="Inter"/>
              </a:rPr>
              <a:t> </a:t>
            </a:r>
            <a:r>
              <a:rPr lang="it-IT" sz="1500" dirty="0" err="1">
                <a:solidFill>
                  <a:srgbClr val="334155"/>
                </a:solidFill>
                <a:latin typeface="Inter"/>
                <a:ea typeface="Inter"/>
              </a:rPr>
              <a:t>strictly</a:t>
            </a:r>
            <a:r>
              <a:rPr lang="it-IT" sz="1500" dirty="0">
                <a:solidFill>
                  <a:srgbClr val="334155"/>
                </a:solidFill>
                <a:latin typeface="Inter"/>
                <a:ea typeface="Inter"/>
              </a:rPr>
              <a:t> </a:t>
            </a:r>
            <a:r>
              <a:rPr lang="it-IT" sz="1500" dirty="0" err="1">
                <a:solidFill>
                  <a:srgbClr val="334155"/>
                </a:solidFill>
                <a:latin typeface="Inter"/>
                <a:ea typeface="Inter"/>
              </a:rPr>
              <a:t>within</a:t>
            </a:r>
            <a:r>
              <a:rPr lang="it-IT" sz="1500" dirty="0">
                <a:solidFill>
                  <a:srgbClr val="334155"/>
                </a:solidFill>
                <a:latin typeface="Inter"/>
                <a:ea typeface="Inter"/>
              </a:rPr>
              <a:t> the training </a:t>
            </a:r>
            <a:r>
              <a:rPr lang="it-IT" sz="1500" dirty="0" err="1">
                <a:solidFill>
                  <a:srgbClr val="334155"/>
                </a:solidFill>
                <a:latin typeface="Inter"/>
                <a:ea typeface="Inter"/>
              </a:rPr>
              <a:t>folds</a:t>
            </a:r>
            <a:r>
              <a:rPr lang="it-IT" sz="1500" dirty="0">
                <a:solidFill>
                  <a:srgbClr val="334155"/>
                </a:solidFill>
                <a:latin typeface="Inter"/>
                <a:ea typeface="Inter"/>
              </a:rPr>
              <a:t> of a </a:t>
            </a:r>
            <a:r>
              <a:rPr lang="it-IT" sz="1500" dirty="0" err="1">
                <a:solidFill>
                  <a:schemeClr val="accent5"/>
                </a:solidFill>
                <a:latin typeface="Inter"/>
                <a:ea typeface="Inter"/>
              </a:rPr>
              <a:t>Leave</a:t>
            </a:r>
            <a:r>
              <a:rPr lang="it-IT" sz="1500" dirty="0">
                <a:solidFill>
                  <a:schemeClr val="accent5"/>
                </a:solidFill>
                <a:latin typeface="Inter"/>
                <a:ea typeface="Inter"/>
              </a:rPr>
              <a:t>-One-Subject-Out (LOSO)</a:t>
            </a:r>
            <a:r>
              <a:rPr lang="it-IT" sz="1500" dirty="0">
                <a:solidFill>
                  <a:srgbClr val="334155"/>
                </a:solidFill>
                <a:latin typeface="Inter"/>
                <a:ea typeface="Inter"/>
              </a:rPr>
              <a:t> </a:t>
            </a:r>
            <a:r>
              <a:rPr lang="it-IT" sz="1500" dirty="0" err="1">
                <a:solidFill>
                  <a:srgbClr val="334155"/>
                </a:solidFill>
                <a:latin typeface="Inter"/>
                <a:ea typeface="Inter"/>
              </a:rPr>
              <a:t>validation</a:t>
            </a:r>
            <a:r>
              <a:rPr lang="it-IT" sz="1500" dirty="0">
                <a:solidFill>
                  <a:srgbClr val="334155"/>
                </a:solidFill>
                <a:latin typeface="Inter"/>
                <a:ea typeface="Inter"/>
              </a:rPr>
              <a:t> framework. By training on 14 </a:t>
            </a:r>
            <a:r>
              <a:rPr lang="it-IT" sz="1500" dirty="0" err="1">
                <a:solidFill>
                  <a:srgbClr val="334155"/>
                </a:solidFill>
                <a:latin typeface="Inter"/>
                <a:ea typeface="Inter"/>
              </a:rPr>
              <a:t>subjects</a:t>
            </a:r>
            <a:r>
              <a:rPr lang="it-IT" sz="1500" dirty="0">
                <a:solidFill>
                  <a:srgbClr val="334155"/>
                </a:solidFill>
                <a:latin typeface="Inter"/>
                <a:ea typeface="Inter"/>
              </a:rPr>
              <a:t> and testing </a:t>
            </a:r>
            <a:r>
              <a:rPr lang="it-IT" sz="1500" dirty="0" err="1">
                <a:solidFill>
                  <a:srgbClr val="334155"/>
                </a:solidFill>
                <a:latin typeface="Inter"/>
                <a:ea typeface="Inter"/>
              </a:rPr>
              <a:t>exclusively</a:t>
            </a:r>
            <a:r>
              <a:rPr lang="it-IT" sz="1500" dirty="0">
                <a:solidFill>
                  <a:srgbClr val="334155"/>
                </a:solidFill>
                <a:latin typeface="Inter"/>
                <a:ea typeface="Inter"/>
              </a:rPr>
              <a:t> on the 15th </a:t>
            </a:r>
            <a:r>
              <a:rPr lang="it-IT" sz="1500" dirty="0" err="1">
                <a:solidFill>
                  <a:srgbClr val="334155"/>
                </a:solidFill>
                <a:latin typeface="Inter"/>
                <a:ea typeface="Inter"/>
              </a:rPr>
              <a:t>unseen</a:t>
            </a:r>
            <a:r>
              <a:rPr lang="it-IT" sz="1500" dirty="0">
                <a:solidFill>
                  <a:srgbClr val="334155"/>
                </a:solidFill>
                <a:latin typeface="Inter"/>
                <a:ea typeface="Inter"/>
              </a:rPr>
              <a:t> </a:t>
            </a:r>
            <a:r>
              <a:rPr lang="it-IT" sz="1500" dirty="0" err="1">
                <a:solidFill>
                  <a:srgbClr val="334155"/>
                </a:solidFill>
                <a:latin typeface="Inter"/>
                <a:ea typeface="Inter"/>
              </a:rPr>
              <a:t>subject</a:t>
            </a:r>
            <a:r>
              <a:rPr lang="it-IT" sz="1500" dirty="0">
                <a:solidFill>
                  <a:srgbClr val="334155"/>
                </a:solidFill>
                <a:latin typeface="Inter"/>
                <a:ea typeface="Inter"/>
              </a:rPr>
              <a:t>, I </a:t>
            </a:r>
            <a:r>
              <a:rPr lang="it-IT" sz="1500" dirty="0" err="1">
                <a:solidFill>
                  <a:srgbClr val="334155"/>
                </a:solidFill>
                <a:latin typeface="Inter"/>
                <a:ea typeface="Inter"/>
              </a:rPr>
              <a:t>completely</a:t>
            </a:r>
            <a:r>
              <a:rPr lang="it-IT" sz="1500" dirty="0">
                <a:solidFill>
                  <a:srgbClr val="334155"/>
                </a:solidFill>
                <a:latin typeface="Inter"/>
                <a:ea typeface="Inter"/>
              </a:rPr>
              <a:t> </a:t>
            </a:r>
            <a:r>
              <a:rPr lang="it-IT" sz="1500" dirty="0" err="1">
                <a:solidFill>
                  <a:srgbClr val="334155"/>
                </a:solidFill>
                <a:latin typeface="Inter"/>
                <a:ea typeface="Inter"/>
              </a:rPr>
              <a:t>eliminated</a:t>
            </a:r>
            <a:r>
              <a:rPr lang="it-IT" sz="1500" dirty="0">
                <a:solidFill>
                  <a:srgbClr val="334155"/>
                </a:solidFill>
                <a:latin typeface="Inter"/>
                <a:ea typeface="Inter"/>
              </a:rPr>
              <a:t> data leakage, </a:t>
            </a:r>
            <a:r>
              <a:rPr lang="it-IT" sz="1500" dirty="0" err="1">
                <a:solidFill>
                  <a:srgbClr val="334155"/>
                </a:solidFill>
                <a:latin typeface="Inter"/>
                <a:ea typeface="Inter"/>
              </a:rPr>
              <a:t>simulating</a:t>
            </a:r>
            <a:r>
              <a:rPr lang="it-IT" sz="1500" dirty="0">
                <a:solidFill>
                  <a:srgbClr val="334155"/>
                </a:solidFill>
                <a:latin typeface="Inter"/>
                <a:ea typeface="Inter"/>
              </a:rPr>
              <a:t> a </a:t>
            </a:r>
            <a:r>
              <a:rPr lang="it-IT" sz="1500" dirty="0" err="1">
                <a:solidFill>
                  <a:srgbClr val="334155"/>
                </a:solidFill>
                <a:latin typeface="Inter"/>
                <a:ea typeface="Inter"/>
              </a:rPr>
              <a:t>true</a:t>
            </a:r>
            <a:r>
              <a:rPr lang="it-IT" sz="1500" dirty="0">
                <a:solidFill>
                  <a:srgbClr val="334155"/>
                </a:solidFill>
                <a:latin typeface="Inter"/>
                <a:ea typeface="Inter"/>
              </a:rPr>
              <a:t> </a:t>
            </a:r>
            <a:r>
              <a:rPr lang="it-IT" sz="1500" dirty="0" err="1">
                <a:solidFill>
                  <a:srgbClr val="334155"/>
                </a:solidFill>
                <a:latin typeface="Inter"/>
                <a:ea typeface="Inter"/>
              </a:rPr>
              <a:t>real</a:t>
            </a:r>
            <a:r>
              <a:rPr lang="it-IT" sz="1500" dirty="0">
                <a:solidFill>
                  <a:srgbClr val="334155"/>
                </a:solidFill>
                <a:latin typeface="Inter"/>
                <a:ea typeface="Inter"/>
              </a:rPr>
              <a:t>-world deployment on a brand-new </a:t>
            </a:r>
            <a:r>
              <a:rPr lang="it-IT" sz="1500" dirty="0" err="1">
                <a:solidFill>
                  <a:srgbClr val="334155"/>
                </a:solidFill>
                <a:latin typeface="Inter"/>
                <a:ea typeface="Inter"/>
              </a:rPr>
              <a:t>patient</a:t>
            </a:r>
            <a:r>
              <a:rPr lang="it-IT" sz="1500" dirty="0">
                <a:solidFill>
                  <a:srgbClr val="334155"/>
                </a:solidFill>
                <a:latin typeface="Inter"/>
                <a:ea typeface="Inter"/>
              </a:rPr>
              <a:t>.</a:t>
            </a:r>
            <a:endParaRPr sz="1500" dirty="0">
              <a:solidFill>
                <a:srgbClr val="334155"/>
              </a:solidFill>
              <a:latin typeface="Inter"/>
              <a:ea typeface="Inter"/>
            </a:endParaRPr>
          </a:p>
        </p:txBody>
      </p:sp>
      <p:sp>
        <p:nvSpPr>
          <p:cNvPr id="176" name="Google Shape;176;p18">
            <a:extLst>
              <a:ext uri="{FF2B5EF4-FFF2-40B4-BE49-F238E27FC236}">
                <a16:creationId xmlns:a16="http://schemas.microsoft.com/office/drawing/2014/main" id="{52165F40-0083-6E92-F24B-B87ECE02B566}"/>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Pipeline Step 3 - LOSO </a:t>
            </a:r>
            <a:r>
              <a:rPr lang="it-IT" sz="3150" b="1" dirty="0" err="1">
                <a:solidFill>
                  <a:srgbClr val="0F172A"/>
                </a:solidFill>
                <a:latin typeface="Poppins"/>
                <a:cs typeface="Poppins"/>
              </a:rPr>
              <a:t>Validation</a:t>
            </a:r>
            <a:r>
              <a:rPr lang="it-IT" sz="3150" b="1" dirty="0">
                <a:solidFill>
                  <a:srgbClr val="0F172A"/>
                </a:solidFill>
                <a:latin typeface="Poppins"/>
                <a:cs typeface="Poppins"/>
              </a:rPr>
              <a:t> &amp; SMOTE</a:t>
            </a:r>
          </a:p>
          <a:p>
            <a:pPr>
              <a:lnSpc>
                <a:spcPct val="110000"/>
              </a:lnSpc>
            </a:pPr>
            <a:endParaRPr dirty="0"/>
          </a:p>
        </p:txBody>
      </p:sp>
      <p:pic>
        <p:nvPicPr>
          <p:cNvPr id="4" name="Immagine 3">
            <a:extLst>
              <a:ext uri="{FF2B5EF4-FFF2-40B4-BE49-F238E27FC236}">
                <a16:creationId xmlns:a16="http://schemas.microsoft.com/office/drawing/2014/main" id="{6EF85596-4EF0-5DC9-67E8-4DA5325D3026}"/>
              </a:ext>
            </a:extLst>
          </p:cNvPr>
          <p:cNvPicPr>
            <a:picLocks noChangeAspect="1"/>
          </p:cNvPicPr>
          <p:nvPr/>
        </p:nvPicPr>
        <p:blipFill>
          <a:blip r:embed="rId4"/>
          <a:stretch>
            <a:fillRect/>
          </a:stretch>
        </p:blipFill>
        <p:spPr>
          <a:xfrm>
            <a:off x="2462646" y="2482473"/>
            <a:ext cx="6847609" cy="3763757"/>
          </a:xfrm>
          <a:prstGeom prst="rect">
            <a:avLst/>
          </a:prstGeom>
        </p:spPr>
      </p:pic>
    </p:spTree>
    <p:extLst>
      <p:ext uri="{BB962C8B-B14F-4D97-AF65-F5344CB8AC3E}">
        <p14:creationId xmlns:p14="http://schemas.microsoft.com/office/powerpoint/2010/main" val="411345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03"/>
        <p:cNvGrpSpPr/>
        <p:nvPr/>
      </p:nvGrpSpPr>
      <p:grpSpPr>
        <a:xfrm>
          <a:off x="0" y="0"/>
          <a:ext cx="0" cy="0"/>
          <a:chOff x="0" y="0"/>
          <a:chExt cx="0" cy="0"/>
        </a:xfrm>
      </p:grpSpPr>
      <p:pic>
        <p:nvPicPr>
          <p:cNvPr id="204" name="Google Shape;20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8" name="Google Shape;208;p20"/>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lvl="0">
              <a:lnSpc>
                <a:spcPct val="110000"/>
              </a:lnSpc>
            </a:pPr>
            <a:r>
              <a:rPr lang="it-IT" sz="3150" b="1" dirty="0">
                <a:solidFill>
                  <a:srgbClr val="0F172A"/>
                </a:solidFill>
                <a:latin typeface="Poppins"/>
                <a:cs typeface="Poppins"/>
              </a:rPr>
              <a:t>Pipeline Step 4 - </a:t>
            </a:r>
            <a:r>
              <a:rPr lang="en-US" sz="3150" b="1" i="0" u="none" strike="noStrike" cap="none" dirty="0">
                <a:solidFill>
                  <a:srgbClr val="0F172A"/>
                </a:solidFill>
                <a:latin typeface="Poppins"/>
                <a:ea typeface="Poppins"/>
                <a:cs typeface="Poppins"/>
                <a:sym typeface="Poppins"/>
              </a:rPr>
              <a:t>Benchmark e model selection</a:t>
            </a:r>
            <a:endParaRPr dirty="0"/>
          </a:p>
        </p:txBody>
      </p:sp>
      <p:sp>
        <p:nvSpPr>
          <p:cNvPr id="2" name="CasellaDiTesto 1">
            <a:extLst>
              <a:ext uri="{FF2B5EF4-FFF2-40B4-BE49-F238E27FC236}">
                <a16:creationId xmlns:a16="http://schemas.microsoft.com/office/drawing/2014/main" id="{27664D86-8977-12C4-931A-5FCEC7F5486A}"/>
              </a:ext>
            </a:extLst>
          </p:cNvPr>
          <p:cNvSpPr txBox="1"/>
          <p:nvPr/>
        </p:nvSpPr>
        <p:spPr>
          <a:xfrm>
            <a:off x="790575" y="1057098"/>
            <a:ext cx="11101387" cy="1938992"/>
          </a:xfrm>
          <a:prstGeom prst="rect">
            <a:avLst/>
          </a:prstGeom>
          <a:noFill/>
        </p:spPr>
        <p:txBody>
          <a:bodyPr wrap="square" rtlCol="0">
            <a:spAutoFit/>
          </a:bodyPr>
          <a:lstStyle/>
          <a:p>
            <a:r>
              <a:rPr lang="it-IT" sz="1500" dirty="0">
                <a:solidFill>
                  <a:srgbClr val="334155"/>
                </a:solidFill>
                <a:latin typeface="Inter"/>
                <a:ea typeface="Inter"/>
              </a:rPr>
              <a:t>I </a:t>
            </a:r>
            <a:r>
              <a:rPr lang="it-IT" sz="1500" dirty="0" err="1">
                <a:solidFill>
                  <a:srgbClr val="334155"/>
                </a:solidFill>
                <a:latin typeface="Inter"/>
                <a:ea typeface="Inter"/>
              </a:rPr>
              <a:t>benchmarked</a:t>
            </a:r>
            <a:r>
              <a:rPr lang="it-IT" sz="1500" dirty="0">
                <a:solidFill>
                  <a:srgbClr val="334155"/>
                </a:solidFill>
                <a:latin typeface="Inter"/>
                <a:ea typeface="Inter"/>
              </a:rPr>
              <a:t> </a:t>
            </a:r>
            <a:r>
              <a:rPr lang="it-IT" sz="1500" dirty="0" err="1">
                <a:solidFill>
                  <a:srgbClr val="334155"/>
                </a:solidFill>
                <a:latin typeface="Inter"/>
                <a:ea typeface="Inter"/>
              </a:rPr>
              <a:t>four</a:t>
            </a:r>
            <a:r>
              <a:rPr lang="it-IT" sz="1500" dirty="0">
                <a:solidFill>
                  <a:srgbClr val="334155"/>
                </a:solidFill>
                <a:latin typeface="Inter"/>
                <a:ea typeface="Inter"/>
              </a:rPr>
              <a:t> </a:t>
            </a:r>
            <a:r>
              <a:rPr lang="it-IT" sz="1500" dirty="0" err="1">
                <a:solidFill>
                  <a:srgbClr val="334155"/>
                </a:solidFill>
                <a:latin typeface="Inter"/>
                <a:ea typeface="Inter"/>
              </a:rPr>
              <a:t>distinct</a:t>
            </a:r>
            <a:r>
              <a:rPr lang="it-IT" sz="1500" dirty="0">
                <a:solidFill>
                  <a:srgbClr val="334155"/>
                </a:solidFill>
                <a:latin typeface="Inter"/>
                <a:ea typeface="Inter"/>
              </a:rPr>
              <a:t> </a:t>
            </a:r>
            <a:r>
              <a:rPr lang="it-IT" sz="1500" dirty="0" err="1">
                <a:solidFill>
                  <a:srgbClr val="334155"/>
                </a:solidFill>
                <a:latin typeface="Inter"/>
                <a:ea typeface="Inter"/>
              </a:rPr>
              <a:t>algorithms</a:t>
            </a:r>
            <a:r>
              <a:rPr lang="it-IT" sz="1500" dirty="0">
                <a:solidFill>
                  <a:srgbClr val="334155"/>
                </a:solidFill>
                <a:latin typeface="Inter"/>
                <a:ea typeface="Inter"/>
              </a:rPr>
              <a:t>: </a:t>
            </a:r>
            <a:r>
              <a:rPr lang="it-IT" sz="1500" dirty="0" err="1">
                <a:solidFill>
                  <a:schemeClr val="accent5"/>
                </a:solidFill>
                <a:latin typeface="Inter"/>
                <a:ea typeface="Inter"/>
              </a:rPr>
              <a:t>Decision</a:t>
            </a:r>
            <a:r>
              <a:rPr lang="it-IT" sz="1500" dirty="0">
                <a:solidFill>
                  <a:schemeClr val="accent5"/>
                </a:solidFill>
                <a:latin typeface="Inter"/>
                <a:ea typeface="Inter"/>
              </a:rPr>
              <a:t> Tree, Support </a:t>
            </a:r>
            <a:r>
              <a:rPr lang="it-IT" sz="1500" dirty="0" err="1">
                <a:solidFill>
                  <a:schemeClr val="accent5"/>
                </a:solidFill>
                <a:latin typeface="Inter"/>
                <a:ea typeface="Inter"/>
              </a:rPr>
              <a:t>Vector</a:t>
            </a:r>
            <a:r>
              <a:rPr lang="it-IT" sz="1500" dirty="0">
                <a:solidFill>
                  <a:schemeClr val="accent5"/>
                </a:solidFill>
                <a:latin typeface="Inter"/>
                <a:ea typeface="Inter"/>
              </a:rPr>
              <a:t> Machine, Random Forest, and </a:t>
            </a:r>
            <a:r>
              <a:rPr lang="it-IT" sz="1500" dirty="0" err="1">
                <a:solidFill>
                  <a:schemeClr val="accent5"/>
                </a:solidFill>
                <a:latin typeface="Inter"/>
                <a:ea typeface="Inter"/>
              </a:rPr>
              <a:t>XGBoost</a:t>
            </a:r>
            <a:r>
              <a:rPr lang="it-IT" sz="1500" dirty="0">
                <a:solidFill>
                  <a:srgbClr val="334155"/>
                </a:solidFill>
                <a:latin typeface="Inter"/>
                <a:ea typeface="Inter"/>
              </a:rPr>
              <a:t>. </a:t>
            </a:r>
            <a:r>
              <a:rPr lang="it-IT" sz="1500" dirty="0" err="1">
                <a:solidFill>
                  <a:srgbClr val="0070C0"/>
                </a:solidFill>
                <a:latin typeface="Inter"/>
                <a:ea typeface="Inter"/>
              </a:rPr>
              <a:t>XGBoost</a:t>
            </a:r>
            <a:r>
              <a:rPr lang="it-IT" sz="1500" dirty="0">
                <a:solidFill>
                  <a:srgbClr val="334155"/>
                </a:solidFill>
                <a:latin typeface="Inter"/>
                <a:ea typeface="Inter"/>
              </a:rPr>
              <a:t> </a:t>
            </a:r>
            <a:r>
              <a:rPr lang="it-IT" sz="1500" dirty="0" err="1">
                <a:solidFill>
                  <a:srgbClr val="334155"/>
                </a:solidFill>
                <a:latin typeface="Inter"/>
                <a:ea typeface="Inter"/>
              </a:rPr>
              <a:t>emerged</a:t>
            </a:r>
            <a:r>
              <a:rPr lang="it-IT" sz="1500" dirty="0">
                <a:solidFill>
                  <a:srgbClr val="334155"/>
                </a:solidFill>
                <a:latin typeface="Inter"/>
                <a:ea typeface="Inter"/>
              </a:rPr>
              <a:t> </a:t>
            </a:r>
            <a:r>
              <a:rPr lang="it-IT" sz="1500" dirty="0" err="1">
                <a:solidFill>
                  <a:srgbClr val="334155"/>
                </a:solidFill>
                <a:latin typeface="Inter"/>
                <a:ea typeface="Inter"/>
              </a:rPr>
              <a:t>as</a:t>
            </a:r>
            <a:r>
              <a:rPr lang="it-IT" sz="1500" dirty="0">
                <a:solidFill>
                  <a:srgbClr val="334155"/>
                </a:solidFill>
                <a:latin typeface="Inter"/>
                <a:ea typeface="Inter"/>
              </a:rPr>
              <a:t> the </a:t>
            </a:r>
            <a:r>
              <a:rPr lang="it-IT" sz="1500" dirty="0" err="1">
                <a:solidFill>
                  <a:srgbClr val="334155"/>
                </a:solidFill>
                <a:latin typeface="Inter"/>
                <a:ea typeface="Inter"/>
              </a:rPr>
              <a:t>absolute</a:t>
            </a:r>
            <a:r>
              <a:rPr lang="it-IT" sz="1500" dirty="0">
                <a:solidFill>
                  <a:srgbClr val="334155"/>
                </a:solidFill>
                <a:latin typeface="Inter"/>
                <a:ea typeface="Inter"/>
              </a:rPr>
              <a:t> winner with a Macro F1 of 0.928. </a:t>
            </a:r>
          </a:p>
          <a:p>
            <a:r>
              <a:rPr lang="en-GB" sz="1500" dirty="0">
                <a:solidFill>
                  <a:srgbClr val="334155"/>
                </a:solidFill>
                <a:latin typeface="Inter"/>
                <a:ea typeface="Inter"/>
              </a:rPr>
              <a:t>To optimize </a:t>
            </a:r>
            <a:r>
              <a:rPr lang="en-GB" sz="1500" dirty="0" err="1">
                <a:solidFill>
                  <a:srgbClr val="334155"/>
                </a:solidFill>
                <a:latin typeface="Inter"/>
                <a:ea typeface="Inter"/>
              </a:rPr>
              <a:t>XGBoost</a:t>
            </a:r>
            <a:r>
              <a:rPr lang="en-GB" sz="1500" dirty="0">
                <a:solidFill>
                  <a:srgbClr val="334155"/>
                </a:solidFill>
                <a:latin typeface="Inter"/>
                <a:ea typeface="Inter"/>
              </a:rPr>
              <a:t>, I used </a:t>
            </a:r>
            <a:r>
              <a:rPr lang="en-GB" sz="1500" dirty="0" err="1">
                <a:solidFill>
                  <a:srgbClr val="334155"/>
                </a:solidFill>
                <a:latin typeface="Inter"/>
                <a:ea typeface="Inter"/>
              </a:rPr>
              <a:t>RandomizedSearchCV</a:t>
            </a:r>
            <a:r>
              <a:rPr lang="en-GB" sz="1500" dirty="0">
                <a:solidFill>
                  <a:srgbClr val="334155"/>
                </a:solidFill>
                <a:latin typeface="Inter"/>
                <a:ea typeface="Inter"/>
              </a:rPr>
              <a:t> with 3-fold cross-validation, which randomly samples combinations from a defined search grid to find the optimal settings fast. </a:t>
            </a:r>
            <a:r>
              <a:rPr lang="it-IT" sz="1500" dirty="0">
                <a:solidFill>
                  <a:srgbClr val="334155"/>
                </a:solidFill>
                <a:latin typeface="Inter"/>
                <a:ea typeface="Inter"/>
              </a:rPr>
              <a:t>The </a:t>
            </a:r>
            <a:r>
              <a:rPr lang="it-IT" sz="1500" dirty="0" err="1">
                <a:solidFill>
                  <a:srgbClr val="334155"/>
                </a:solidFill>
                <a:latin typeface="Inter"/>
                <a:ea typeface="Inter"/>
              </a:rPr>
              <a:t>selected</a:t>
            </a:r>
            <a:r>
              <a:rPr lang="it-IT" sz="1500" dirty="0">
                <a:solidFill>
                  <a:srgbClr val="334155"/>
                </a:solidFill>
                <a:latin typeface="Inter"/>
                <a:ea typeface="Inter"/>
              </a:rPr>
              <a:t> </a:t>
            </a:r>
            <a:r>
              <a:rPr lang="it-IT" sz="1500" dirty="0" err="1">
                <a:solidFill>
                  <a:srgbClr val="334155"/>
                </a:solidFill>
                <a:latin typeface="Inter"/>
                <a:ea typeface="Inter"/>
              </a:rPr>
              <a:t>parameters</a:t>
            </a:r>
            <a:r>
              <a:rPr lang="it-IT" sz="1500" dirty="0">
                <a:solidFill>
                  <a:srgbClr val="334155"/>
                </a:solidFill>
                <a:latin typeface="Inter"/>
                <a:ea typeface="Inter"/>
              </a:rPr>
              <a:t> are: '</a:t>
            </a:r>
            <a:r>
              <a:rPr lang="it-IT" sz="1500" dirty="0" err="1">
                <a:solidFill>
                  <a:srgbClr val="334155"/>
                </a:solidFill>
                <a:latin typeface="Inter"/>
                <a:ea typeface="Inter"/>
              </a:rPr>
              <a:t>n_estimators</a:t>
            </a:r>
            <a:r>
              <a:rPr lang="it-IT" sz="1500" dirty="0">
                <a:solidFill>
                  <a:srgbClr val="334155"/>
                </a:solidFill>
                <a:latin typeface="Inter"/>
                <a:ea typeface="Inter"/>
              </a:rPr>
              <a:t>=200', '</a:t>
            </a:r>
            <a:r>
              <a:rPr lang="it-IT" sz="1500" dirty="0" err="1">
                <a:solidFill>
                  <a:srgbClr val="334155"/>
                </a:solidFill>
                <a:latin typeface="Inter"/>
                <a:ea typeface="Inter"/>
              </a:rPr>
              <a:t>max_depth</a:t>
            </a:r>
            <a:r>
              <a:rPr lang="it-IT" sz="1500" dirty="0">
                <a:solidFill>
                  <a:srgbClr val="334155"/>
                </a:solidFill>
                <a:latin typeface="Inter"/>
                <a:ea typeface="Inter"/>
              </a:rPr>
              <a:t>=10', and </a:t>
            </a:r>
            <a:r>
              <a:rPr lang="en-GB" sz="1500" dirty="0" err="1">
                <a:solidFill>
                  <a:srgbClr val="334155"/>
                </a:solidFill>
                <a:latin typeface="Inter"/>
                <a:ea typeface="Inter"/>
              </a:rPr>
              <a:t>class_weight</a:t>
            </a:r>
            <a:r>
              <a:rPr lang="en-GB" sz="1500" dirty="0">
                <a:solidFill>
                  <a:srgbClr val="334155"/>
                </a:solidFill>
                <a:latin typeface="Inter"/>
                <a:ea typeface="Inter"/>
              </a:rPr>
              <a:t> = '</a:t>
            </a:r>
            <a:r>
              <a:rPr lang="en-GB" sz="1500" dirty="0" err="1">
                <a:solidFill>
                  <a:srgbClr val="334155"/>
                </a:solidFill>
                <a:latin typeface="Inter"/>
                <a:ea typeface="Inter"/>
              </a:rPr>
              <a:t>balanced_subsample</a:t>
            </a:r>
            <a:r>
              <a:rPr lang="en-GB" sz="1500" dirty="0">
                <a:solidFill>
                  <a:srgbClr val="334155"/>
                </a:solidFill>
                <a:latin typeface="Inter"/>
                <a:ea typeface="Inter"/>
              </a:rPr>
              <a:t>'</a:t>
            </a:r>
            <a:r>
              <a:rPr lang="it-IT" sz="1500" dirty="0">
                <a:solidFill>
                  <a:srgbClr val="334155"/>
                </a:solidFill>
                <a:latin typeface="Inter"/>
                <a:ea typeface="Inter"/>
              </a:rPr>
              <a:t> </a:t>
            </a:r>
            <a:r>
              <a:rPr lang="it-IT" sz="1500" dirty="0" err="1">
                <a:solidFill>
                  <a:srgbClr val="334155"/>
                </a:solidFill>
                <a:latin typeface="Inter"/>
                <a:ea typeface="Inter"/>
              </a:rPr>
              <a:t>assigning</a:t>
            </a:r>
            <a:r>
              <a:rPr lang="it-IT" sz="1500" dirty="0">
                <a:solidFill>
                  <a:srgbClr val="334155"/>
                </a:solidFill>
                <a:latin typeface="Inter"/>
                <a:ea typeface="Inter"/>
              </a:rPr>
              <a:t> </a:t>
            </a:r>
            <a:r>
              <a:rPr lang="it-IT" sz="1500" dirty="0" err="1">
                <a:solidFill>
                  <a:srgbClr val="334155"/>
                </a:solidFill>
                <a:latin typeface="Inter"/>
                <a:ea typeface="Inter"/>
              </a:rPr>
              <a:t>heavier</a:t>
            </a:r>
            <a:r>
              <a:rPr lang="it-IT" sz="1500" dirty="0">
                <a:solidFill>
                  <a:srgbClr val="334155"/>
                </a:solidFill>
                <a:latin typeface="Inter"/>
                <a:ea typeface="Inter"/>
              </a:rPr>
              <a:t> </a:t>
            </a:r>
            <a:r>
              <a:rPr lang="it-IT" sz="1500" dirty="0" err="1">
                <a:solidFill>
                  <a:srgbClr val="334155"/>
                </a:solidFill>
                <a:latin typeface="Inter"/>
                <a:ea typeface="Inter"/>
              </a:rPr>
              <a:t>mathematical</a:t>
            </a:r>
            <a:r>
              <a:rPr lang="it-IT" sz="1500" dirty="0">
                <a:solidFill>
                  <a:srgbClr val="334155"/>
                </a:solidFill>
                <a:latin typeface="Inter"/>
                <a:ea typeface="Inter"/>
              </a:rPr>
              <a:t> weights to the </a:t>
            </a:r>
            <a:r>
              <a:rPr lang="it-IT" sz="1500" dirty="0" err="1">
                <a:solidFill>
                  <a:srgbClr val="334155"/>
                </a:solidFill>
                <a:latin typeface="Inter"/>
                <a:ea typeface="Inter"/>
              </a:rPr>
              <a:t>minority</a:t>
            </a:r>
            <a:r>
              <a:rPr lang="it-IT" sz="1500" dirty="0">
                <a:solidFill>
                  <a:srgbClr val="334155"/>
                </a:solidFill>
                <a:latin typeface="Inter"/>
                <a:ea typeface="Inter"/>
              </a:rPr>
              <a:t> class.</a:t>
            </a:r>
          </a:p>
          <a:p>
            <a:r>
              <a:rPr lang="it-IT" sz="1500" dirty="0" err="1">
                <a:solidFill>
                  <a:srgbClr val="334155"/>
                </a:solidFill>
                <a:latin typeface="Inter"/>
                <a:ea typeface="Inter"/>
              </a:rPr>
              <a:t>Remarkably</a:t>
            </a:r>
            <a:r>
              <a:rPr lang="it-IT" sz="1500" dirty="0">
                <a:solidFill>
                  <a:srgbClr val="334155"/>
                </a:solidFill>
                <a:latin typeface="Inter"/>
                <a:ea typeface="Inter"/>
              </a:rPr>
              <a:t>, </a:t>
            </a:r>
            <a:r>
              <a:rPr lang="it-IT" sz="1500" dirty="0" err="1">
                <a:solidFill>
                  <a:srgbClr val="334155"/>
                </a:solidFill>
                <a:latin typeface="Inter"/>
                <a:ea typeface="Inter"/>
              </a:rPr>
              <a:t>it</a:t>
            </a:r>
            <a:r>
              <a:rPr lang="it-IT" sz="1500" dirty="0">
                <a:solidFill>
                  <a:srgbClr val="334155"/>
                </a:solidFill>
                <a:latin typeface="Inter"/>
                <a:ea typeface="Inter"/>
              </a:rPr>
              <a:t> </a:t>
            </a:r>
            <a:r>
              <a:rPr lang="it-IT" sz="1500" dirty="0" err="1">
                <a:solidFill>
                  <a:srgbClr val="334155"/>
                </a:solidFill>
                <a:latin typeface="Inter"/>
                <a:ea typeface="Inter"/>
              </a:rPr>
              <a:t>trained</a:t>
            </a:r>
            <a:r>
              <a:rPr lang="it-IT" sz="1500" dirty="0">
                <a:solidFill>
                  <a:srgbClr val="334155"/>
                </a:solidFill>
                <a:latin typeface="Inter"/>
                <a:ea typeface="Inter"/>
              </a:rPr>
              <a:t> in just 0.12 seconds on a standard CPU, </a:t>
            </a:r>
            <a:r>
              <a:rPr lang="it-IT" sz="1500" dirty="0" err="1">
                <a:solidFill>
                  <a:srgbClr val="334155"/>
                </a:solidFill>
                <a:latin typeface="Inter"/>
                <a:ea typeface="Inter"/>
              </a:rPr>
              <a:t>proving</a:t>
            </a:r>
            <a:r>
              <a:rPr lang="it-IT" sz="1500" dirty="0">
                <a:solidFill>
                  <a:srgbClr val="334155"/>
                </a:solidFill>
                <a:latin typeface="Inter"/>
                <a:ea typeface="Inter"/>
              </a:rPr>
              <a:t> </a:t>
            </a:r>
            <a:r>
              <a:rPr lang="it-IT" sz="1500" dirty="0" err="1">
                <a:solidFill>
                  <a:srgbClr val="334155"/>
                </a:solidFill>
                <a:latin typeface="Inter"/>
                <a:ea typeface="Inter"/>
              </a:rPr>
              <a:t>its</a:t>
            </a:r>
            <a:r>
              <a:rPr lang="it-IT" sz="1500" dirty="0">
                <a:solidFill>
                  <a:srgbClr val="334155"/>
                </a:solidFill>
                <a:latin typeface="Inter"/>
                <a:ea typeface="Inter"/>
              </a:rPr>
              <a:t> immense </a:t>
            </a:r>
            <a:r>
              <a:rPr lang="it-IT" sz="1500" dirty="0" err="1">
                <a:solidFill>
                  <a:srgbClr val="334155"/>
                </a:solidFill>
                <a:latin typeface="Inter"/>
                <a:ea typeface="Inter"/>
              </a:rPr>
              <a:t>superiority</a:t>
            </a:r>
            <a:r>
              <a:rPr lang="it-IT" sz="1500" dirty="0">
                <a:solidFill>
                  <a:srgbClr val="334155"/>
                </a:solidFill>
                <a:latin typeface="Inter"/>
                <a:ea typeface="Inter"/>
              </a:rPr>
              <a:t> for low-power </a:t>
            </a:r>
            <a:r>
              <a:rPr lang="it-IT" sz="1500" dirty="0" err="1">
                <a:solidFill>
                  <a:srgbClr val="334155"/>
                </a:solidFill>
                <a:latin typeface="Inter"/>
                <a:ea typeface="Inter"/>
              </a:rPr>
              <a:t>edge</a:t>
            </a:r>
            <a:r>
              <a:rPr lang="it-IT" sz="1500" dirty="0">
                <a:solidFill>
                  <a:srgbClr val="334155"/>
                </a:solidFill>
                <a:latin typeface="Inter"/>
                <a:ea typeface="Inter"/>
              </a:rPr>
              <a:t> </a:t>
            </a:r>
            <a:r>
              <a:rPr lang="it-IT" sz="1500" dirty="0" err="1">
                <a:solidFill>
                  <a:srgbClr val="334155"/>
                </a:solidFill>
                <a:latin typeface="Inter"/>
                <a:ea typeface="Inter"/>
              </a:rPr>
              <a:t>wearables</a:t>
            </a:r>
            <a:r>
              <a:rPr lang="it-IT" sz="1500" dirty="0">
                <a:solidFill>
                  <a:srgbClr val="334155"/>
                </a:solidFill>
                <a:latin typeface="Inter"/>
                <a:ea typeface="Inter"/>
              </a:rPr>
              <a:t>.</a:t>
            </a:r>
          </a:p>
        </p:txBody>
      </p:sp>
      <p:pic>
        <p:nvPicPr>
          <p:cNvPr id="9" name="Immagine 8">
            <a:extLst>
              <a:ext uri="{FF2B5EF4-FFF2-40B4-BE49-F238E27FC236}">
                <a16:creationId xmlns:a16="http://schemas.microsoft.com/office/drawing/2014/main" id="{CD492B04-DDC8-1537-1129-3DF9B355A893}"/>
              </a:ext>
            </a:extLst>
          </p:cNvPr>
          <p:cNvPicPr>
            <a:picLocks noChangeAspect="1"/>
          </p:cNvPicPr>
          <p:nvPr/>
        </p:nvPicPr>
        <p:blipFill>
          <a:blip r:embed="rId4"/>
          <a:stretch>
            <a:fillRect/>
          </a:stretch>
        </p:blipFill>
        <p:spPr>
          <a:xfrm>
            <a:off x="5864605" y="3798168"/>
            <a:ext cx="5462001" cy="2002733"/>
          </a:xfrm>
          <a:prstGeom prst="rect">
            <a:avLst/>
          </a:prstGeom>
        </p:spPr>
      </p:pic>
      <p:pic>
        <p:nvPicPr>
          <p:cNvPr id="11" name="Immagine 10">
            <a:extLst>
              <a:ext uri="{FF2B5EF4-FFF2-40B4-BE49-F238E27FC236}">
                <a16:creationId xmlns:a16="http://schemas.microsoft.com/office/drawing/2014/main" id="{0B21E2FE-DFCF-AA53-B59E-F9C7DF482712}"/>
              </a:ext>
            </a:extLst>
          </p:cNvPr>
          <p:cNvPicPr>
            <a:picLocks noChangeAspect="1"/>
          </p:cNvPicPr>
          <p:nvPr/>
        </p:nvPicPr>
        <p:blipFill>
          <a:blip r:embed="rId5"/>
          <a:stretch>
            <a:fillRect/>
          </a:stretch>
        </p:blipFill>
        <p:spPr>
          <a:xfrm>
            <a:off x="1195321" y="3798169"/>
            <a:ext cx="4091145" cy="2002733"/>
          </a:xfrm>
          <a:prstGeom prst="rect">
            <a:avLst/>
          </a:prstGeom>
        </p:spPr>
      </p:pic>
      <p:sp>
        <p:nvSpPr>
          <p:cNvPr id="3" name="Rettangolo 2">
            <a:extLst>
              <a:ext uri="{FF2B5EF4-FFF2-40B4-BE49-F238E27FC236}">
                <a16:creationId xmlns:a16="http://schemas.microsoft.com/office/drawing/2014/main" id="{3AF67C78-ADA1-3B5F-3F55-622847945FCE}"/>
              </a:ext>
            </a:extLst>
          </p:cNvPr>
          <p:cNvSpPr/>
          <p:nvPr/>
        </p:nvSpPr>
        <p:spPr>
          <a:xfrm>
            <a:off x="1337187" y="4562168"/>
            <a:ext cx="3696929" cy="3539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25"/>
        <p:cNvGrpSpPr/>
        <p:nvPr/>
      </p:nvGrpSpPr>
      <p:grpSpPr>
        <a:xfrm>
          <a:off x="0" y="0"/>
          <a:ext cx="0" cy="0"/>
          <a:chOff x="0" y="0"/>
          <a:chExt cx="0" cy="0"/>
        </a:xfrm>
      </p:grpSpPr>
      <p:pic>
        <p:nvPicPr>
          <p:cNvPr id="226" name="Google Shape;22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8" name="Google Shape;228;p22"/>
          <p:cNvSpPr txBox="1"/>
          <p:nvPr/>
        </p:nvSpPr>
        <p:spPr>
          <a:xfrm>
            <a:off x="714375" y="3992122"/>
            <a:ext cx="10763250" cy="1384995"/>
          </a:xfrm>
          <a:prstGeom prst="rect">
            <a:avLst/>
          </a:prstGeom>
          <a:noFill/>
          <a:ln>
            <a:noFill/>
          </a:ln>
        </p:spPr>
        <p:txBody>
          <a:bodyPr spcFirstLastPara="1" wrap="square" lIns="0" tIns="0" rIns="0" bIns="0" anchor="t" anchorCtr="0">
            <a:spAutoFit/>
          </a:bodyPr>
          <a:lstStyle/>
          <a:p>
            <a:pPr algn="ctr"/>
            <a:r>
              <a:rPr lang="it-IT" sz="1500" dirty="0">
                <a:solidFill>
                  <a:srgbClr val="334155"/>
                </a:solidFill>
                <a:latin typeface="Inter"/>
                <a:ea typeface="Inter"/>
              </a:rPr>
              <a:t>To </a:t>
            </a:r>
            <a:r>
              <a:rPr lang="it-IT" sz="1500" dirty="0" err="1">
                <a:solidFill>
                  <a:srgbClr val="334155"/>
                </a:solidFill>
                <a:latin typeface="Inter"/>
                <a:ea typeface="Inter"/>
              </a:rPr>
              <a:t>scientifically</a:t>
            </a:r>
            <a:r>
              <a:rPr lang="it-IT" sz="1500" dirty="0">
                <a:solidFill>
                  <a:srgbClr val="334155"/>
                </a:solidFill>
                <a:latin typeface="Inter"/>
                <a:ea typeface="Inter"/>
              </a:rPr>
              <a:t> </a:t>
            </a:r>
            <a:r>
              <a:rPr lang="it-IT" sz="1500" dirty="0" err="1">
                <a:solidFill>
                  <a:srgbClr val="334155"/>
                </a:solidFill>
                <a:latin typeface="Inter"/>
                <a:ea typeface="Inter"/>
              </a:rPr>
              <a:t>justify</a:t>
            </a:r>
            <a:r>
              <a:rPr lang="it-IT" sz="1500" dirty="0">
                <a:solidFill>
                  <a:srgbClr val="334155"/>
                </a:solidFill>
                <a:latin typeface="Inter"/>
                <a:ea typeface="Inter"/>
              </a:rPr>
              <a:t> the use of multiple </a:t>
            </a:r>
            <a:r>
              <a:rPr lang="it-IT" sz="1500" dirty="0" err="1">
                <a:solidFill>
                  <a:srgbClr val="334155"/>
                </a:solidFill>
                <a:latin typeface="Inter"/>
                <a:ea typeface="Inter"/>
              </a:rPr>
              <a:t>sensors</a:t>
            </a:r>
            <a:r>
              <a:rPr lang="it-IT" sz="1500" dirty="0">
                <a:solidFill>
                  <a:srgbClr val="334155"/>
                </a:solidFill>
                <a:latin typeface="Inter"/>
                <a:ea typeface="Inter"/>
              </a:rPr>
              <a:t>, I </a:t>
            </a:r>
            <a:r>
              <a:rPr lang="it-IT" sz="1500" dirty="0" err="1">
                <a:solidFill>
                  <a:srgbClr val="334155"/>
                </a:solidFill>
                <a:latin typeface="Inter"/>
                <a:ea typeface="Inter"/>
              </a:rPr>
              <a:t>conducted</a:t>
            </a:r>
            <a:r>
              <a:rPr lang="it-IT" sz="1500" dirty="0">
                <a:solidFill>
                  <a:srgbClr val="334155"/>
                </a:solidFill>
                <a:latin typeface="Inter"/>
                <a:ea typeface="Inter"/>
              </a:rPr>
              <a:t> an </a:t>
            </a:r>
            <a:r>
              <a:rPr lang="it-IT" sz="1500" dirty="0" err="1">
                <a:solidFill>
                  <a:srgbClr val="334155"/>
                </a:solidFill>
                <a:latin typeface="Inter"/>
                <a:ea typeface="Inter"/>
              </a:rPr>
              <a:t>Ablation</a:t>
            </a:r>
            <a:r>
              <a:rPr lang="it-IT" sz="1500" dirty="0">
                <a:solidFill>
                  <a:srgbClr val="334155"/>
                </a:solidFill>
                <a:latin typeface="Inter"/>
                <a:ea typeface="Inter"/>
              </a:rPr>
              <a:t> Study. </a:t>
            </a:r>
            <a:r>
              <a:rPr lang="it-IT" sz="1500" dirty="0" err="1">
                <a:solidFill>
                  <a:srgbClr val="334155"/>
                </a:solidFill>
                <a:latin typeface="Inter"/>
                <a:ea typeface="Inter"/>
              </a:rPr>
              <a:t>When</a:t>
            </a:r>
            <a:r>
              <a:rPr lang="it-IT" sz="1500" dirty="0">
                <a:solidFill>
                  <a:srgbClr val="334155"/>
                </a:solidFill>
                <a:latin typeface="Inter"/>
                <a:ea typeface="Inter"/>
              </a:rPr>
              <a:t> the model </a:t>
            </a:r>
            <a:r>
              <a:rPr lang="it-IT" sz="1500" dirty="0" err="1">
                <a:solidFill>
                  <a:srgbClr val="334155"/>
                </a:solidFill>
                <a:latin typeface="Inter"/>
                <a:ea typeface="Inter"/>
              </a:rPr>
              <a:t>relied</a:t>
            </a:r>
            <a:r>
              <a:rPr lang="it-IT" sz="1500" dirty="0">
                <a:solidFill>
                  <a:srgbClr val="334155"/>
                </a:solidFill>
                <a:latin typeface="Inter"/>
                <a:ea typeface="Inter"/>
              </a:rPr>
              <a:t> </a:t>
            </a:r>
            <a:r>
              <a:rPr lang="it-IT" sz="1500" dirty="0" err="1">
                <a:solidFill>
                  <a:srgbClr val="334155"/>
                </a:solidFill>
                <a:latin typeface="Inter"/>
                <a:ea typeface="Inter"/>
              </a:rPr>
              <a:t>only</a:t>
            </a:r>
            <a:r>
              <a:rPr lang="it-IT" sz="1500" dirty="0">
                <a:solidFill>
                  <a:srgbClr val="334155"/>
                </a:solidFill>
                <a:latin typeface="Inter"/>
                <a:ea typeface="Inter"/>
              </a:rPr>
              <a:t> on </a:t>
            </a:r>
            <a:r>
              <a:rPr lang="it-IT" sz="1500" dirty="0" err="1">
                <a:solidFill>
                  <a:srgbClr val="334155"/>
                </a:solidFill>
                <a:latin typeface="Inter"/>
                <a:ea typeface="Inter"/>
              </a:rPr>
              <a:t>heart</a:t>
            </a:r>
            <a:r>
              <a:rPr lang="it-IT" sz="1500" dirty="0">
                <a:solidFill>
                  <a:srgbClr val="334155"/>
                </a:solidFill>
                <a:latin typeface="Inter"/>
                <a:ea typeface="Inter"/>
              </a:rPr>
              <a:t> </a:t>
            </a:r>
            <a:r>
              <a:rPr lang="it-IT" sz="1500" dirty="0" err="1">
                <a:solidFill>
                  <a:srgbClr val="334155"/>
                </a:solidFill>
                <a:latin typeface="Inter"/>
                <a:ea typeface="Inter"/>
              </a:rPr>
              <a:t>metrics</a:t>
            </a:r>
            <a:r>
              <a:rPr lang="it-IT" sz="1500" dirty="0">
                <a:solidFill>
                  <a:srgbClr val="334155"/>
                </a:solidFill>
                <a:latin typeface="Inter"/>
                <a:ea typeface="Inter"/>
              </a:rPr>
              <a:t> (BVP), performance </a:t>
            </a:r>
            <a:r>
              <a:rPr lang="it-IT" sz="1500" dirty="0" err="1">
                <a:solidFill>
                  <a:srgbClr val="334155"/>
                </a:solidFill>
                <a:latin typeface="Inter"/>
                <a:ea typeface="Inter"/>
              </a:rPr>
              <a:t>dropped</a:t>
            </a:r>
            <a:r>
              <a:rPr lang="it-IT" sz="1500" dirty="0">
                <a:solidFill>
                  <a:srgbClr val="334155"/>
                </a:solidFill>
                <a:latin typeface="Inter"/>
                <a:ea typeface="Inter"/>
              </a:rPr>
              <a:t> </a:t>
            </a:r>
            <a:r>
              <a:rPr lang="it-IT" sz="1500" dirty="0" err="1">
                <a:solidFill>
                  <a:srgbClr val="334155"/>
                </a:solidFill>
                <a:latin typeface="Inter"/>
                <a:ea typeface="Inter"/>
              </a:rPr>
              <a:t>drastically</a:t>
            </a:r>
            <a:r>
              <a:rPr lang="it-IT" sz="1500" dirty="0">
                <a:solidFill>
                  <a:srgbClr val="334155"/>
                </a:solidFill>
                <a:latin typeface="Inter"/>
                <a:ea typeface="Inter"/>
              </a:rPr>
              <a:t> to a 0.616 Macro F1-score. </a:t>
            </a:r>
            <a:r>
              <a:rPr lang="en-GB" sz="1500" dirty="0">
                <a:solidFill>
                  <a:srgbClr val="334155"/>
                </a:solidFill>
                <a:latin typeface="Inter"/>
                <a:ea typeface="Inter"/>
              </a:rPr>
              <a:t>Heart rate alone is too noisy because it fluctuates with posture, movement, and breathing. </a:t>
            </a:r>
            <a:r>
              <a:rPr lang="it-IT" sz="1500" dirty="0">
                <a:solidFill>
                  <a:srgbClr val="334155"/>
                </a:solidFill>
                <a:latin typeface="Inter"/>
                <a:ea typeface="Inter"/>
              </a:rPr>
              <a:t>Using </a:t>
            </a:r>
            <a:r>
              <a:rPr lang="it-IT" sz="1500" dirty="0" err="1">
                <a:solidFill>
                  <a:srgbClr val="334155"/>
                </a:solidFill>
                <a:latin typeface="Inter"/>
                <a:ea typeface="Inter"/>
              </a:rPr>
              <a:t>only</a:t>
            </a:r>
            <a:r>
              <a:rPr lang="it-IT" sz="1500" dirty="0">
                <a:solidFill>
                  <a:srgbClr val="334155"/>
                </a:solidFill>
                <a:latin typeface="Inter"/>
                <a:ea typeface="Inter"/>
              </a:rPr>
              <a:t> </a:t>
            </a:r>
            <a:r>
              <a:rPr lang="it-IT" sz="1500" dirty="0" err="1">
                <a:solidFill>
                  <a:srgbClr val="334155"/>
                </a:solidFill>
                <a:latin typeface="Inter"/>
                <a:ea typeface="Inter"/>
              </a:rPr>
              <a:t>sweat</a:t>
            </a:r>
            <a:r>
              <a:rPr lang="it-IT" sz="1500" dirty="0">
                <a:solidFill>
                  <a:srgbClr val="334155"/>
                </a:solidFill>
                <a:latin typeface="Inter"/>
                <a:ea typeface="Inter"/>
              </a:rPr>
              <a:t> </a:t>
            </a:r>
            <a:r>
              <a:rPr lang="it-IT" sz="1500" dirty="0" err="1">
                <a:solidFill>
                  <a:srgbClr val="334155"/>
                </a:solidFill>
                <a:latin typeface="Inter"/>
                <a:ea typeface="Inter"/>
              </a:rPr>
              <a:t>metrics</a:t>
            </a:r>
            <a:r>
              <a:rPr lang="it-IT" sz="1500" dirty="0">
                <a:solidFill>
                  <a:srgbClr val="334155"/>
                </a:solidFill>
                <a:latin typeface="Inter"/>
                <a:ea typeface="Inter"/>
              </a:rPr>
              <a:t> (EDA) </a:t>
            </a:r>
            <a:r>
              <a:rPr lang="it-IT" sz="1500" dirty="0" err="1">
                <a:solidFill>
                  <a:srgbClr val="334155"/>
                </a:solidFill>
                <a:latin typeface="Inter"/>
                <a:ea typeface="Inter"/>
              </a:rPr>
              <a:t>yielded</a:t>
            </a:r>
            <a:r>
              <a:rPr lang="it-IT" sz="1500" dirty="0">
                <a:solidFill>
                  <a:srgbClr val="334155"/>
                </a:solidFill>
                <a:latin typeface="Inter"/>
                <a:ea typeface="Inter"/>
              </a:rPr>
              <a:t> a strong 0.900, </a:t>
            </a:r>
            <a:r>
              <a:rPr lang="en-GB" sz="1500" dirty="0">
                <a:solidFill>
                  <a:srgbClr val="334155"/>
                </a:solidFill>
                <a:latin typeface="Inter"/>
                <a:ea typeface="Inter"/>
              </a:rPr>
              <a:t>confirming sweat as the true backbone of sympathetic detection.</a:t>
            </a:r>
            <a:endParaRPr lang="it-IT" sz="1500" dirty="0">
              <a:solidFill>
                <a:srgbClr val="334155"/>
              </a:solidFill>
              <a:latin typeface="Inter"/>
              <a:ea typeface="Inter"/>
            </a:endParaRPr>
          </a:p>
          <a:p>
            <a:pPr algn="ctr"/>
            <a:r>
              <a:rPr lang="it-IT" sz="1500" dirty="0" err="1">
                <a:solidFill>
                  <a:srgbClr val="334155"/>
                </a:solidFill>
                <a:latin typeface="Inter"/>
                <a:ea typeface="Inter"/>
              </a:rPr>
              <a:t>However</a:t>
            </a:r>
            <a:r>
              <a:rPr lang="it-IT" sz="1500" dirty="0">
                <a:solidFill>
                  <a:srgbClr val="334155"/>
                </a:solidFill>
                <a:latin typeface="Inter"/>
                <a:ea typeface="Inter"/>
              </a:rPr>
              <a:t>, </a:t>
            </a:r>
            <a:r>
              <a:rPr lang="it-IT" sz="1500" dirty="0" err="1">
                <a:solidFill>
                  <a:srgbClr val="334155"/>
                </a:solidFill>
                <a:latin typeface="Inter"/>
                <a:ea typeface="Inter"/>
              </a:rPr>
              <a:t>fusing</a:t>
            </a:r>
            <a:r>
              <a:rPr lang="it-IT" sz="1500" dirty="0">
                <a:solidFill>
                  <a:srgbClr val="334155"/>
                </a:solidFill>
                <a:latin typeface="Inter"/>
                <a:ea typeface="Inter"/>
              </a:rPr>
              <a:t> </a:t>
            </a:r>
            <a:r>
              <a:rPr lang="it-IT" sz="1500" dirty="0" err="1">
                <a:solidFill>
                  <a:srgbClr val="334155"/>
                </a:solidFill>
                <a:latin typeface="Inter"/>
                <a:ea typeface="Inter"/>
              </a:rPr>
              <a:t>both</a:t>
            </a:r>
            <a:r>
              <a:rPr lang="it-IT" sz="1500" dirty="0">
                <a:solidFill>
                  <a:srgbClr val="334155"/>
                </a:solidFill>
                <a:latin typeface="Inter"/>
                <a:ea typeface="Inter"/>
              </a:rPr>
              <a:t> </a:t>
            </a:r>
            <a:r>
              <a:rPr lang="it-IT" sz="1500" dirty="0" err="1">
                <a:solidFill>
                  <a:srgbClr val="334155"/>
                </a:solidFill>
                <a:latin typeface="Inter"/>
                <a:ea typeface="Inter"/>
              </a:rPr>
              <a:t>modalities</a:t>
            </a:r>
            <a:r>
              <a:rPr lang="it-IT" sz="1500" dirty="0">
                <a:solidFill>
                  <a:srgbClr val="334155"/>
                </a:solidFill>
                <a:latin typeface="Inter"/>
                <a:ea typeface="Inter"/>
              </a:rPr>
              <a:t> </a:t>
            </a:r>
            <a:r>
              <a:rPr lang="it-IT" sz="1500" dirty="0" err="1">
                <a:solidFill>
                  <a:srgbClr val="334155"/>
                </a:solidFill>
                <a:latin typeface="Inter"/>
                <a:ea typeface="Inter"/>
              </a:rPr>
              <a:t>achieved</a:t>
            </a:r>
            <a:r>
              <a:rPr lang="it-IT" sz="1500" dirty="0">
                <a:solidFill>
                  <a:srgbClr val="334155"/>
                </a:solidFill>
                <a:latin typeface="Inter"/>
                <a:ea typeface="Inter"/>
              </a:rPr>
              <a:t> the </a:t>
            </a:r>
            <a:r>
              <a:rPr lang="it-IT" sz="1500" dirty="0" err="1">
                <a:solidFill>
                  <a:srgbClr val="334155"/>
                </a:solidFill>
                <a:latin typeface="Inter"/>
                <a:ea typeface="Inter"/>
              </a:rPr>
              <a:t>highest</a:t>
            </a:r>
            <a:r>
              <a:rPr lang="it-IT" sz="1500" dirty="0">
                <a:solidFill>
                  <a:srgbClr val="334155"/>
                </a:solidFill>
                <a:latin typeface="Inter"/>
                <a:ea typeface="Inter"/>
              </a:rPr>
              <a:t> score (</a:t>
            </a:r>
            <a:r>
              <a:rPr lang="it-IT" sz="1500" dirty="0">
                <a:solidFill>
                  <a:schemeClr val="accent5"/>
                </a:solidFill>
                <a:latin typeface="Inter"/>
                <a:ea typeface="Inter"/>
              </a:rPr>
              <a:t>0.928</a:t>
            </a:r>
            <a:r>
              <a:rPr lang="it-IT" sz="1500" dirty="0">
                <a:solidFill>
                  <a:srgbClr val="334155"/>
                </a:solidFill>
                <a:latin typeface="Inter"/>
                <a:ea typeface="Inter"/>
              </a:rPr>
              <a:t>). </a:t>
            </a:r>
            <a:r>
              <a:rPr lang="it-IT" sz="1500" dirty="0" err="1">
                <a:solidFill>
                  <a:srgbClr val="334155"/>
                </a:solidFill>
                <a:latin typeface="Inter"/>
                <a:ea typeface="Inter"/>
              </a:rPr>
              <a:t>This</a:t>
            </a:r>
            <a:r>
              <a:rPr lang="it-IT" sz="1500" dirty="0">
                <a:solidFill>
                  <a:srgbClr val="334155"/>
                </a:solidFill>
                <a:latin typeface="Inter"/>
                <a:ea typeface="Inter"/>
              </a:rPr>
              <a:t> </a:t>
            </a:r>
            <a:r>
              <a:rPr lang="it-IT" sz="1500" dirty="0" err="1">
                <a:solidFill>
                  <a:srgbClr val="334155"/>
                </a:solidFill>
                <a:latin typeface="Inter"/>
                <a:ea typeface="Inter"/>
              </a:rPr>
              <a:t>proves</a:t>
            </a:r>
            <a:r>
              <a:rPr lang="it-IT" sz="1500" dirty="0">
                <a:solidFill>
                  <a:srgbClr val="334155"/>
                </a:solidFill>
                <a:latin typeface="Inter"/>
                <a:ea typeface="Inter"/>
              </a:rPr>
              <a:t> </a:t>
            </a:r>
            <a:r>
              <a:rPr lang="it-IT" sz="1500" dirty="0" err="1">
                <a:solidFill>
                  <a:srgbClr val="334155"/>
                </a:solidFill>
                <a:latin typeface="Inter"/>
                <a:ea typeface="Inter"/>
              </a:rPr>
              <a:t>that</a:t>
            </a:r>
            <a:r>
              <a:rPr lang="it-IT" sz="1500" dirty="0">
                <a:solidFill>
                  <a:srgbClr val="334155"/>
                </a:solidFill>
                <a:latin typeface="Inter"/>
                <a:ea typeface="Inter"/>
              </a:rPr>
              <a:t> EDA </a:t>
            </a:r>
            <a:r>
              <a:rPr lang="it-IT" sz="1500" dirty="0" err="1">
                <a:solidFill>
                  <a:srgbClr val="334155"/>
                </a:solidFill>
                <a:latin typeface="Inter"/>
                <a:ea typeface="Inter"/>
              </a:rPr>
              <a:t>is</a:t>
            </a:r>
            <a:r>
              <a:rPr lang="it-IT" sz="1500" dirty="0">
                <a:solidFill>
                  <a:srgbClr val="334155"/>
                </a:solidFill>
                <a:latin typeface="Inter"/>
                <a:ea typeface="Inter"/>
              </a:rPr>
              <a:t> the </a:t>
            </a:r>
            <a:r>
              <a:rPr lang="it-IT" sz="1500" dirty="0" err="1">
                <a:solidFill>
                  <a:srgbClr val="334155"/>
                </a:solidFill>
                <a:latin typeface="Inter"/>
                <a:ea typeface="Inter"/>
              </a:rPr>
              <a:t>primary</a:t>
            </a:r>
            <a:r>
              <a:rPr lang="it-IT" sz="1500" dirty="0">
                <a:solidFill>
                  <a:srgbClr val="334155"/>
                </a:solidFill>
                <a:latin typeface="Inter"/>
                <a:ea typeface="Inter"/>
              </a:rPr>
              <a:t> driver of stress </a:t>
            </a:r>
            <a:r>
              <a:rPr lang="it-IT" sz="1500" dirty="0" err="1">
                <a:solidFill>
                  <a:srgbClr val="334155"/>
                </a:solidFill>
                <a:latin typeface="Inter"/>
                <a:ea typeface="Inter"/>
              </a:rPr>
              <a:t>detection</a:t>
            </a:r>
            <a:r>
              <a:rPr lang="it-IT" sz="1500" dirty="0">
                <a:solidFill>
                  <a:srgbClr val="334155"/>
                </a:solidFill>
                <a:latin typeface="Inter"/>
                <a:ea typeface="Inter"/>
              </a:rPr>
              <a:t>, </a:t>
            </a:r>
            <a:r>
              <a:rPr lang="it-IT" sz="1500" dirty="0" err="1">
                <a:solidFill>
                  <a:srgbClr val="334155"/>
                </a:solidFill>
                <a:latin typeface="Inter"/>
                <a:ea typeface="Inter"/>
              </a:rPr>
              <a:t>while</a:t>
            </a:r>
            <a:r>
              <a:rPr lang="it-IT" sz="1500" dirty="0">
                <a:solidFill>
                  <a:srgbClr val="334155"/>
                </a:solidFill>
                <a:latin typeface="Inter"/>
                <a:ea typeface="Inter"/>
              </a:rPr>
              <a:t> </a:t>
            </a:r>
            <a:r>
              <a:rPr lang="it-IT" sz="1500" dirty="0" err="1">
                <a:solidFill>
                  <a:srgbClr val="334155"/>
                </a:solidFill>
                <a:latin typeface="Inter"/>
                <a:ea typeface="Inter"/>
              </a:rPr>
              <a:t>cardiovascular</a:t>
            </a:r>
            <a:r>
              <a:rPr lang="it-IT" sz="1500" dirty="0">
                <a:solidFill>
                  <a:srgbClr val="334155"/>
                </a:solidFill>
                <a:latin typeface="Inter"/>
                <a:ea typeface="Inter"/>
              </a:rPr>
              <a:t> data </a:t>
            </a:r>
            <a:r>
              <a:rPr lang="it-IT" sz="1500" dirty="0" err="1">
                <a:solidFill>
                  <a:srgbClr val="334155"/>
                </a:solidFill>
                <a:latin typeface="Inter"/>
                <a:ea typeface="Inter"/>
              </a:rPr>
              <a:t>provides</a:t>
            </a:r>
            <a:r>
              <a:rPr lang="it-IT" sz="1500" dirty="0">
                <a:solidFill>
                  <a:srgbClr val="334155"/>
                </a:solidFill>
                <a:latin typeface="Inter"/>
                <a:ea typeface="Inter"/>
              </a:rPr>
              <a:t> </a:t>
            </a:r>
            <a:r>
              <a:rPr lang="it-IT" sz="1500" dirty="0" err="1">
                <a:solidFill>
                  <a:srgbClr val="334155"/>
                </a:solidFill>
                <a:latin typeface="Inter"/>
                <a:ea typeface="Inter"/>
              </a:rPr>
              <a:t>essential</a:t>
            </a:r>
            <a:r>
              <a:rPr lang="it-IT" sz="1500" dirty="0">
                <a:solidFill>
                  <a:srgbClr val="334155"/>
                </a:solidFill>
                <a:latin typeface="Inter"/>
                <a:ea typeface="Inter"/>
              </a:rPr>
              <a:t> </a:t>
            </a:r>
            <a:r>
              <a:rPr lang="it-IT" sz="1500" dirty="0" err="1">
                <a:solidFill>
                  <a:srgbClr val="334155"/>
                </a:solidFill>
                <a:latin typeface="Inter"/>
                <a:ea typeface="Inter"/>
              </a:rPr>
              <a:t>context</a:t>
            </a:r>
            <a:r>
              <a:rPr lang="it-IT" sz="1500" dirty="0">
                <a:solidFill>
                  <a:srgbClr val="334155"/>
                </a:solidFill>
                <a:latin typeface="Inter"/>
                <a:ea typeface="Inter"/>
              </a:rPr>
              <a:t> to filter out false </a:t>
            </a:r>
            <a:r>
              <a:rPr lang="it-IT" sz="1500" dirty="0" err="1">
                <a:solidFill>
                  <a:srgbClr val="334155"/>
                </a:solidFill>
                <a:latin typeface="Inter"/>
                <a:ea typeface="Inter"/>
              </a:rPr>
              <a:t>alarms</a:t>
            </a:r>
            <a:r>
              <a:rPr lang="it-IT" sz="1500" dirty="0">
                <a:solidFill>
                  <a:srgbClr val="334155"/>
                </a:solidFill>
                <a:latin typeface="Inter"/>
                <a:ea typeface="Inter"/>
              </a:rPr>
              <a:t>.</a:t>
            </a:r>
            <a:endParaRPr sz="1500" dirty="0">
              <a:solidFill>
                <a:srgbClr val="334155"/>
              </a:solidFill>
              <a:latin typeface="Inter"/>
              <a:ea typeface="Inter"/>
            </a:endParaRPr>
          </a:p>
        </p:txBody>
      </p:sp>
      <p:sp>
        <p:nvSpPr>
          <p:cNvPr id="229" name="Google Shape;229;p22"/>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lvl="0">
              <a:lnSpc>
                <a:spcPct val="110000"/>
              </a:lnSpc>
            </a:pPr>
            <a:r>
              <a:rPr lang="it-IT" sz="3150" b="1" dirty="0">
                <a:solidFill>
                  <a:srgbClr val="0F172A"/>
                </a:solidFill>
                <a:latin typeface="Poppins"/>
                <a:cs typeface="Poppins"/>
              </a:rPr>
              <a:t>Pipeline Step 4 - </a:t>
            </a:r>
            <a:r>
              <a:rPr lang="en-US" sz="3150" b="1" i="0" u="none" strike="noStrike" cap="none" dirty="0">
                <a:solidFill>
                  <a:srgbClr val="0F172A"/>
                </a:solidFill>
                <a:latin typeface="Poppins"/>
                <a:ea typeface="Poppins"/>
                <a:cs typeface="Poppins"/>
                <a:sym typeface="Poppins"/>
              </a:rPr>
              <a:t>Modality Ablation Study</a:t>
            </a:r>
            <a:endParaRPr dirty="0"/>
          </a:p>
        </p:txBody>
      </p:sp>
      <p:pic>
        <p:nvPicPr>
          <p:cNvPr id="5" name="Immagine 4">
            <a:extLst>
              <a:ext uri="{FF2B5EF4-FFF2-40B4-BE49-F238E27FC236}">
                <a16:creationId xmlns:a16="http://schemas.microsoft.com/office/drawing/2014/main" id="{AC919EC2-53F4-320E-DAC8-A9CA7741782C}"/>
              </a:ext>
            </a:extLst>
          </p:cNvPr>
          <p:cNvPicPr>
            <a:picLocks noChangeAspect="1"/>
          </p:cNvPicPr>
          <p:nvPr/>
        </p:nvPicPr>
        <p:blipFill>
          <a:blip r:embed="rId4"/>
          <a:stretch>
            <a:fillRect/>
          </a:stretch>
        </p:blipFill>
        <p:spPr>
          <a:xfrm>
            <a:off x="3697180" y="1726336"/>
            <a:ext cx="4669323" cy="183329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04356173-5667-E2F4-AAEB-454127148351}"/>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E510FB8C-9C6F-15B0-E4F3-DDDF440C2211}"/>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9" name="Google Shape;159;p18">
            <a:extLst>
              <a:ext uri="{FF2B5EF4-FFF2-40B4-BE49-F238E27FC236}">
                <a16:creationId xmlns:a16="http://schemas.microsoft.com/office/drawing/2014/main" id="{26CE78AA-949E-123D-08B6-E92092880553}"/>
              </a:ext>
            </a:extLst>
          </p:cNvPr>
          <p:cNvSpPr txBox="1"/>
          <p:nvPr/>
        </p:nvSpPr>
        <p:spPr>
          <a:xfrm>
            <a:off x="510554" y="1244630"/>
            <a:ext cx="11225921" cy="923330"/>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The </a:t>
            </a:r>
            <a:r>
              <a:rPr lang="it-IT" sz="1500" dirty="0" err="1">
                <a:solidFill>
                  <a:srgbClr val="334155"/>
                </a:solidFill>
                <a:latin typeface="Inter"/>
                <a:ea typeface="Inter"/>
              </a:rPr>
              <a:t>final</a:t>
            </a:r>
            <a:r>
              <a:rPr lang="it-IT" sz="1500" dirty="0">
                <a:solidFill>
                  <a:srgbClr val="334155"/>
                </a:solidFill>
                <a:latin typeface="Inter"/>
                <a:ea typeface="Inter"/>
              </a:rPr>
              <a:t> step of the pipeline </a:t>
            </a:r>
            <a:r>
              <a:rPr lang="it-IT" sz="1500" dirty="0" err="1">
                <a:solidFill>
                  <a:srgbClr val="334155"/>
                </a:solidFill>
                <a:latin typeface="Inter"/>
                <a:ea typeface="Inter"/>
              </a:rPr>
              <a:t>bridges</a:t>
            </a:r>
            <a:r>
              <a:rPr lang="it-IT" sz="1500" dirty="0">
                <a:solidFill>
                  <a:srgbClr val="334155"/>
                </a:solidFill>
                <a:latin typeface="Inter"/>
                <a:ea typeface="Inter"/>
              </a:rPr>
              <a:t> the gap </a:t>
            </a:r>
            <a:r>
              <a:rPr lang="it-IT" sz="1500" dirty="0" err="1">
                <a:solidFill>
                  <a:srgbClr val="334155"/>
                </a:solidFill>
                <a:latin typeface="Inter"/>
                <a:ea typeface="Inter"/>
              </a:rPr>
              <a:t>between</a:t>
            </a:r>
            <a:r>
              <a:rPr lang="it-IT" sz="1500" dirty="0">
                <a:solidFill>
                  <a:srgbClr val="334155"/>
                </a:solidFill>
                <a:latin typeface="Inter"/>
                <a:ea typeface="Inter"/>
              </a:rPr>
              <a:t> machine learning and medicine. I </a:t>
            </a:r>
            <a:r>
              <a:rPr lang="it-IT" sz="1500" dirty="0" err="1">
                <a:solidFill>
                  <a:srgbClr val="334155"/>
                </a:solidFill>
                <a:latin typeface="Inter"/>
                <a:ea typeface="Inter"/>
              </a:rPr>
              <a:t>integrated</a:t>
            </a:r>
            <a:r>
              <a:rPr lang="it-IT" sz="1500" dirty="0">
                <a:solidFill>
                  <a:srgbClr val="334155"/>
                </a:solidFill>
                <a:latin typeface="Inter"/>
                <a:ea typeface="Inter"/>
              </a:rPr>
              <a:t> </a:t>
            </a:r>
            <a:r>
              <a:rPr lang="it-IT" sz="1500" dirty="0" err="1">
                <a:solidFill>
                  <a:srgbClr val="334155"/>
                </a:solidFill>
                <a:latin typeface="Inter"/>
                <a:ea typeface="Inter"/>
              </a:rPr>
              <a:t>TreeSHAP</a:t>
            </a:r>
            <a:r>
              <a:rPr lang="it-IT" sz="1500" dirty="0">
                <a:solidFill>
                  <a:srgbClr val="334155"/>
                </a:solidFill>
                <a:latin typeface="Inter"/>
                <a:ea typeface="Inter"/>
              </a:rPr>
              <a:t> to compute </a:t>
            </a:r>
            <a:r>
              <a:rPr lang="it-IT" sz="1500" dirty="0" err="1">
                <a:solidFill>
                  <a:srgbClr val="334155"/>
                </a:solidFill>
                <a:latin typeface="Inter"/>
                <a:ea typeface="Inter"/>
              </a:rPr>
              <a:t>exact</a:t>
            </a:r>
            <a:r>
              <a:rPr lang="it-IT" sz="1500" dirty="0">
                <a:solidFill>
                  <a:srgbClr val="334155"/>
                </a:solidFill>
                <a:latin typeface="Inter"/>
                <a:ea typeface="Inter"/>
              </a:rPr>
              <a:t> Shapley </a:t>
            </a:r>
            <a:r>
              <a:rPr lang="it-IT" sz="1500" dirty="0" err="1">
                <a:solidFill>
                  <a:srgbClr val="334155"/>
                </a:solidFill>
                <a:latin typeface="Inter"/>
                <a:ea typeface="Inter"/>
              </a:rPr>
              <a:t>values</a:t>
            </a:r>
            <a:r>
              <a:rPr lang="it-IT" sz="1500" dirty="0">
                <a:solidFill>
                  <a:srgbClr val="334155"/>
                </a:solidFill>
                <a:latin typeface="Inter"/>
                <a:ea typeface="Inter"/>
              </a:rPr>
              <a:t> for the </a:t>
            </a:r>
            <a:r>
              <a:rPr lang="it-IT" sz="1500" dirty="0" err="1">
                <a:solidFill>
                  <a:srgbClr val="334155"/>
                </a:solidFill>
                <a:latin typeface="Inter"/>
                <a:ea typeface="Inter"/>
              </a:rPr>
              <a:t>tree</a:t>
            </a:r>
            <a:r>
              <a:rPr lang="it-IT" sz="1500" dirty="0">
                <a:solidFill>
                  <a:srgbClr val="334155"/>
                </a:solidFill>
                <a:latin typeface="Inter"/>
                <a:ea typeface="Inter"/>
              </a:rPr>
              <a:t> ensembles. </a:t>
            </a:r>
            <a:r>
              <a:rPr lang="it-IT" sz="1500" dirty="0" err="1">
                <a:solidFill>
                  <a:srgbClr val="334155"/>
                </a:solidFill>
                <a:latin typeface="Inter"/>
                <a:ea typeface="Inter"/>
              </a:rPr>
              <a:t>This</a:t>
            </a:r>
            <a:r>
              <a:rPr lang="it-IT" sz="1500" dirty="0">
                <a:solidFill>
                  <a:srgbClr val="334155"/>
                </a:solidFill>
                <a:latin typeface="Inter"/>
                <a:ea typeface="Inter"/>
              </a:rPr>
              <a:t> </a:t>
            </a:r>
            <a:r>
              <a:rPr lang="it-IT" sz="1500" dirty="0" err="1">
                <a:solidFill>
                  <a:srgbClr val="334155"/>
                </a:solidFill>
                <a:latin typeface="Inter"/>
                <a:ea typeface="Inter"/>
              </a:rPr>
              <a:t>layer</a:t>
            </a:r>
            <a:r>
              <a:rPr lang="it-IT" sz="1500" dirty="0">
                <a:solidFill>
                  <a:srgbClr val="334155"/>
                </a:solidFill>
                <a:latin typeface="Inter"/>
                <a:ea typeface="Inter"/>
              </a:rPr>
              <a:t> acts </a:t>
            </a:r>
            <a:r>
              <a:rPr lang="it-IT" sz="1500" dirty="0" err="1">
                <a:solidFill>
                  <a:srgbClr val="334155"/>
                </a:solidFill>
                <a:latin typeface="Inter"/>
                <a:ea typeface="Inter"/>
              </a:rPr>
              <a:t>as</a:t>
            </a:r>
            <a:r>
              <a:rPr lang="it-IT" sz="1500" dirty="0">
                <a:solidFill>
                  <a:srgbClr val="334155"/>
                </a:solidFill>
                <a:latin typeface="Inter"/>
                <a:ea typeface="Inter"/>
              </a:rPr>
              <a:t> a clinical </a:t>
            </a:r>
            <a:r>
              <a:rPr lang="it-IT" sz="1500" dirty="0" err="1">
                <a:solidFill>
                  <a:srgbClr val="334155"/>
                </a:solidFill>
                <a:latin typeface="Inter"/>
                <a:ea typeface="Inter"/>
              </a:rPr>
              <a:t>translator</a:t>
            </a:r>
            <a:r>
              <a:rPr lang="it-IT" sz="1500" dirty="0">
                <a:solidFill>
                  <a:srgbClr val="334155"/>
                </a:solidFill>
                <a:latin typeface="Inter"/>
                <a:ea typeface="Inter"/>
              </a:rPr>
              <a:t>: </a:t>
            </a:r>
            <a:r>
              <a:rPr lang="it-IT" sz="1500" dirty="0" err="1">
                <a:solidFill>
                  <a:srgbClr val="334155"/>
                </a:solidFill>
                <a:latin typeface="Inter"/>
                <a:ea typeface="Inter"/>
              </a:rPr>
              <a:t>instead</a:t>
            </a:r>
            <a:r>
              <a:rPr lang="it-IT" sz="1500" dirty="0">
                <a:solidFill>
                  <a:srgbClr val="334155"/>
                </a:solidFill>
                <a:latin typeface="Inter"/>
                <a:ea typeface="Inter"/>
              </a:rPr>
              <a:t> of </a:t>
            </a:r>
            <a:r>
              <a:rPr lang="it-IT" sz="1500" dirty="0" err="1">
                <a:solidFill>
                  <a:srgbClr val="334155"/>
                </a:solidFill>
                <a:latin typeface="Inter"/>
                <a:ea typeface="Inter"/>
              </a:rPr>
              <a:t>merely</a:t>
            </a:r>
            <a:r>
              <a:rPr lang="it-IT" sz="1500" dirty="0">
                <a:solidFill>
                  <a:srgbClr val="334155"/>
                </a:solidFill>
                <a:latin typeface="Inter"/>
                <a:ea typeface="Inter"/>
              </a:rPr>
              <a:t> </a:t>
            </a:r>
            <a:r>
              <a:rPr lang="it-IT" sz="1500" dirty="0" err="1">
                <a:solidFill>
                  <a:srgbClr val="334155"/>
                </a:solidFill>
                <a:latin typeface="Inter"/>
                <a:ea typeface="Inter"/>
              </a:rPr>
              <a:t>outputting</a:t>
            </a:r>
            <a:r>
              <a:rPr lang="it-IT" sz="1500" dirty="0">
                <a:solidFill>
                  <a:srgbClr val="334155"/>
                </a:solidFill>
                <a:latin typeface="Inter"/>
                <a:ea typeface="Inter"/>
              </a:rPr>
              <a:t> a </a:t>
            </a:r>
            <a:r>
              <a:rPr lang="it-IT" sz="1500" dirty="0" err="1">
                <a:solidFill>
                  <a:srgbClr val="334155"/>
                </a:solidFill>
                <a:latin typeface="Inter"/>
                <a:ea typeface="Inter"/>
              </a:rPr>
              <a:t>binary</a:t>
            </a:r>
            <a:r>
              <a:rPr lang="it-IT" sz="1500" dirty="0">
                <a:solidFill>
                  <a:srgbClr val="334155"/>
                </a:solidFill>
                <a:latin typeface="Inter"/>
                <a:ea typeface="Inter"/>
              </a:rPr>
              <a:t> 'Stress' label, </a:t>
            </a:r>
            <a:r>
              <a:rPr lang="it-IT" sz="1500" dirty="0" err="1">
                <a:solidFill>
                  <a:srgbClr val="334155"/>
                </a:solidFill>
                <a:latin typeface="Inter"/>
                <a:ea typeface="Inter"/>
              </a:rPr>
              <a:t>it</a:t>
            </a:r>
            <a:r>
              <a:rPr lang="it-IT" sz="1500" dirty="0">
                <a:solidFill>
                  <a:srgbClr val="334155"/>
                </a:solidFill>
                <a:latin typeface="Inter"/>
                <a:ea typeface="Inter"/>
              </a:rPr>
              <a:t> </a:t>
            </a:r>
            <a:r>
              <a:rPr lang="it-IT" sz="1500" dirty="0" err="1">
                <a:solidFill>
                  <a:srgbClr val="334155"/>
                </a:solidFill>
                <a:latin typeface="Inter"/>
                <a:ea typeface="Inter"/>
              </a:rPr>
              <a:t>provides</a:t>
            </a:r>
            <a:r>
              <a:rPr lang="it-IT" sz="1500" dirty="0">
                <a:solidFill>
                  <a:srgbClr val="334155"/>
                </a:solidFill>
                <a:latin typeface="Inter"/>
                <a:ea typeface="Inter"/>
              </a:rPr>
              <a:t> </a:t>
            </a:r>
            <a:r>
              <a:rPr lang="it-IT" sz="1500" dirty="0" err="1">
                <a:solidFill>
                  <a:srgbClr val="334155"/>
                </a:solidFill>
                <a:latin typeface="Inter"/>
                <a:ea typeface="Inter"/>
              </a:rPr>
              <a:t>exact</a:t>
            </a:r>
            <a:r>
              <a:rPr lang="it-IT" sz="1500" dirty="0">
                <a:solidFill>
                  <a:srgbClr val="334155"/>
                </a:solidFill>
                <a:latin typeface="Inter"/>
                <a:ea typeface="Inter"/>
              </a:rPr>
              <a:t> </a:t>
            </a:r>
            <a:r>
              <a:rPr lang="it-IT" sz="1500" dirty="0" err="1">
                <a:solidFill>
                  <a:srgbClr val="334155"/>
                </a:solidFill>
                <a:latin typeface="Inter"/>
                <a:ea typeface="Inter"/>
              </a:rPr>
              <a:t>mathematical</a:t>
            </a:r>
            <a:r>
              <a:rPr lang="it-IT" sz="1500" dirty="0">
                <a:solidFill>
                  <a:srgbClr val="334155"/>
                </a:solidFill>
                <a:latin typeface="Inter"/>
                <a:ea typeface="Inter"/>
              </a:rPr>
              <a:t> </a:t>
            </a:r>
            <a:r>
              <a:rPr lang="it-IT" sz="1500" dirty="0" err="1">
                <a:solidFill>
                  <a:srgbClr val="334155"/>
                </a:solidFill>
                <a:latin typeface="Inter"/>
                <a:ea typeface="Inter"/>
              </a:rPr>
              <a:t>transparency</a:t>
            </a:r>
            <a:r>
              <a:rPr lang="it-IT" sz="1500" dirty="0">
                <a:solidFill>
                  <a:srgbClr val="334155"/>
                </a:solidFill>
                <a:latin typeface="Inter"/>
                <a:ea typeface="Inter"/>
              </a:rPr>
              <a:t>, </a:t>
            </a:r>
            <a:r>
              <a:rPr lang="it-IT" sz="1500" dirty="0" err="1">
                <a:solidFill>
                  <a:srgbClr val="334155"/>
                </a:solidFill>
                <a:latin typeface="Inter"/>
                <a:ea typeface="Inter"/>
              </a:rPr>
              <a:t>showing</a:t>
            </a:r>
            <a:r>
              <a:rPr lang="it-IT" sz="1500" dirty="0">
                <a:solidFill>
                  <a:srgbClr val="334155"/>
                </a:solidFill>
                <a:latin typeface="Inter"/>
                <a:ea typeface="Inter"/>
              </a:rPr>
              <a:t> a doctor </a:t>
            </a:r>
            <a:r>
              <a:rPr lang="it-IT" sz="1500" dirty="0" err="1">
                <a:solidFill>
                  <a:srgbClr val="334155"/>
                </a:solidFill>
                <a:latin typeface="Inter"/>
                <a:ea typeface="Inter"/>
              </a:rPr>
              <a:t>exactly</a:t>
            </a:r>
            <a:r>
              <a:rPr lang="it-IT" sz="1500" dirty="0">
                <a:solidFill>
                  <a:srgbClr val="334155"/>
                </a:solidFill>
                <a:latin typeface="Inter"/>
                <a:ea typeface="Inter"/>
              </a:rPr>
              <a:t> </a:t>
            </a:r>
            <a:r>
              <a:rPr lang="it-IT" sz="1500" dirty="0" err="1">
                <a:solidFill>
                  <a:srgbClr val="334155"/>
                </a:solidFill>
                <a:latin typeface="Inter"/>
                <a:ea typeface="Inter"/>
              </a:rPr>
              <a:t>which</a:t>
            </a:r>
            <a:r>
              <a:rPr lang="it-IT" sz="1500" dirty="0">
                <a:solidFill>
                  <a:srgbClr val="334155"/>
                </a:solidFill>
                <a:latin typeface="Inter"/>
                <a:ea typeface="Inter"/>
              </a:rPr>
              <a:t> </a:t>
            </a:r>
            <a:r>
              <a:rPr lang="it-IT" sz="1500" dirty="0" err="1">
                <a:solidFill>
                  <a:srgbClr val="334155"/>
                </a:solidFill>
                <a:latin typeface="Inter"/>
                <a:ea typeface="Inter"/>
              </a:rPr>
              <a:t>physiological</a:t>
            </a:r>
            <a:r>
              <a:rPr lang="it-IT" sz="1500" dirty="0">
                <a:solidFill>
                  <a:srgbClr val="334155"/>
                </a:solidFill>
                <a:latin typeface="Inter"/>
                <a:ea typeface="Inter"/>
              </a:rPr>
              <a:t> features </a:t>
            </a:r>
            <a:r>
              <a:rPr lang="it-IT" sz="1500" dirty="0" err="1">
                <a:solidFill>
                  <a:srgbClr val="334155"/>
                </a:solidFill>
                <a:latin typeface="Inter"/>
                <a:ea typeface="Inter"/>
              </a:rPr>
              <a:t>drove</a:t>
            </a:r>
            <a:r>
              <a:rPr lang="it-IT" sz="1500" dirty="0">
                <a:solidFill>
                  <a:srgbClr val="334155"/>
                </a:solidFill>
                <a:latin typeface="Inter"/>
                <a:ea typeface="Inter"/>
              </a:rPr>
              <a:t> the </a:t>
            </a:r>
            <a:r>
              <a:rPr lang="it-IT" sz="1500" dirty="0" err="1">
                <a:solidFill>
                  <a:srgbClr val="334155"/>
                </a:solidFill>
                <a:latin typeface="Inter"/>
                <a:ea typeface="Inter"/>
              </a:rPr>
              <a:t>algorithm's</a:t>
            </a:r>
            <a:r>
              <a:rPr lang="it-IT" sz="1500" dirty="0">
                <a:solidFill>
                  <a:srgbClr val="334155"/>
                </a:solidFill>
                <a:latin typeface="Inter"/>
                <a:ea typeface="Inter"/>
              </a:rPr>
              <a:t> </a:t>
            </a:r>
            <a:r>
              <a:rPr lang="it-IT" sz="1500" dirty="0" err="1">
                <a:solidFill>
                  <a:srgbClr val="334155"/>
                </a:solidFill>
                <a:latin typeface="Inter"/>
                <a:ea typeface="Inter"/>
              </a:rPr>
              <a:t>decision</a:t>
            </a:r>
            <a:r>
              <a:rPr lang="it-IT" sz="1500" dirty="0">
                <a:solidFill>
                  <a:srgbClr val="334155"/>
                </a:solidFill>
                <a:latin typeface="Inter"/>
                <a:ea typeface="Inter"/>
              </a:rPr>
              <a:t> in real-time.</a:t>
            </a:r>
            <a:endParaRPr sz="1500" dirty="0">
              <a:solidFill>
                <a:srgbClr val="334155"/>
              </a:solidFill>
              <a:latin typeface="Inter"/>
              <a:ea typeface="Inter"/>
            </a:endParaRPr>
          </a:p>
        </p:txBody>
      </p:sp>
      <p:sp>
        <p:nvSpPr>
          <p:cNvPr id="176" name="Google Shape;176;p18">
            <a:extLst>
              <a:ext uri="{FF2B5EF4-FFF2-40B4-BE49-F238E27FC236}">
                <a16:creationId xmlns:a16="http://schemas.microsoft.com/office/drawing/2014/main" id="{AEA9A324-2DE8-8034-1DBA-4019DDE7D7C8}"/>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Pipeline Step 5 - </a:t>
            </a:r>
            <a:r>
              <a:rPr lang="it-IT" sz="3150" b="1" dirty="0" err="1">
                <a:solidFill>
                  <a:srgbClr val="0F172A"/>
                </a:solidFill>
                <a:latin typeface="Poppins"/>
                <a:cs typeface="Poppins"/>
              </a:rPr>
              <a:t>Explainable</a:t>
            </a:r>
            <a:r>
              <a:rPr lang="it-IT" sz="3150" b="1" dirty="0">
                <a:solidFill>
                  <a:srgbClr val="0F172A"/>
                </a:solidFill>
                <a:latin typeface="Poppins"/>
                <a:cs typeface="Poppins"/>
              </a:rPr>
              <a:t> AI (</a:t>
            </a:r>
            <a:r>
              <a:rPr lang="it-IT" sz="3150" b="1" dirty="0" err="1">
                <a:solidFill>
                  <a:srgbClr val="0F172A"/>
                </a:solidFill>
                <a:latin typeface="Poppins"/>
                <a:cs typeface="Poppins"/>
              </a:rPr>
              <a:t>TreeSHAP</a:t>
            </a:r>
            <a:r>
              <a:rPr lang="it-IT" sz="3150" b="1" dirty="0">
                <a:solidFill>
                  <a:srgbClr val="0F172A"/>
                </a:solidFill>
                <a:latin typeface="Poppins"/>
                <a:cs typeface="Poppins"/>
              </a:rPr>
              <a:t>)</a:t>
            </a:r>
          </a:p>
          <a:p>
            <a:pPr>
              <a:lnSpc>
                <a:spcPct val="110000"/>
              </a:lnSpc>
            </a:pPr>
            <a:endParaRPr dirty="0"/>
          </a:p>
        </p:txBody>
      </p:sp>
      <p:pic>
        <p:nvPicPr>
          <p:cNvPr id="5" name="Immagine 4">
            <a:extLst>
              <a:ext uri="{FF2B5EF4-FFF2-40B4-BE49-F238E27FC236}">
                <a16:creationId xmlns:a16="http://schemas.microsoft.com/office/drawing/2014/main" id="{99586F65-BADB-B895-6E6D-86F15029BA6E}"/>
              </a:ext>
            </a:extLst>
          </p:cNvPr>
          <p:cNvPicPr>
            <a:picLocks noChangeAspect="1"/>
          </p:cNvPicPr>
          <p:nvPr/>
        </p:nvPicPr>
        <p:blipFill>
          <a:blip r:embed="rId4"/>
          <a:stretch>
            <a:fillRect/>
          </a:stretch>
        </p:blipFill>
        <p:spPr>
          <a:xfrm>
            <a:off x="3317421" y="2606427"/>
            <a:ext cx="5019027" cy="3356882"/>
          </a:xfrm>
          <a:prstGeom prst="rect">
            <a:avLst/>
          </a:prstGeom>
        </p:spPr>
      </p:pic>
    </p:spTree>
    <p:extLst>
      <p:ext uri="{BB962C8B-B14F-4D97-AF65-F5344CB8AC3E}">
        <p14:creationId xmlns:p14="http://schemas.microsoft.com/office/powerpoint/2010/main" val="3068055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13"/>
        <p:cNvGrpSpPr/>
        <p:nvPr/>
      </p:nvGrpSpPr>
      <p:grpSpPr>
        <a:xfrm>
          <a:off x="0" y="0"/>
          <a:ext cx="0" cy="0"/>
          <a:chOff x="0" y="0"/>
          <a:chExt cx="0" cy="0"/>
        </a:xfrm>
      </p:grpSpPr>
      <p:pic>
        <p:nvPicPr>
          <p:cNvPr id="214" name="Google Shape;21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5" name="Google Shape;215;p21"/>
          <p:cNvSpPr txBox="1"/>
          <p:nvPr/>
        </p:nvSpPr>
        <p:spPr>
          <a:xfrm>
            <a:off x="904875" y="523875"/>
            <a:ext cx="715757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err="1">
                <a:solidFill>
                  <a:srgbClr val="0F172A"/>
                </a:solidFill>
                <a:latin typeface="Poppins"/>
                <a:ea typeface="Poppins"/>
                <a:cs typeface="Poppins"/>
                <a:sym typeface="Poppins"/>
              </a:rPr>
              <a:t>TreeSHAP</a:t>
            </a:r>
            <a:r>
              <a:rPr lang="en-US" sz="3150" b="1" i="0" u="none" strike="noStrike" cap="none" dirty="0">
                <a:solidFill>
                  <a:srgbClr val="0F172A"/>
                </a:solidFill>
                <a:latin typeface="Poppins"/>
                <a:ea typeface="Poppins"/>
                <a:cs typeface="Poppins"/>
                <a:sym typeface="Poppins"/>
              </a:rPr>
              <a:t> global </a:t>
            </a:r>
            <a:r>
              <a:rPr lang="en-US" sz="3150" b="1" dirty="0">
                <a:solidFill>
                  <a:srgbClr val="0F172A"/>
                </a:solidFill>
                <a:latin typeface="Poppins"/>
                <a:ea typeface="Poppins"/>
                <a:cs typeface="Poppins"/>
                <a:sym typeface="Poppins"/>
              </a:rPr>
              <a:t>e</a:t>
            </a:r>
            <a:r>
              <a:rPr lang="en-US" sz="3150" b="1" i="0" u="none" strike="noStrike" cap="none" dirty="0">
                <a:solidFill>
                  <a:srgbClr val="0F172A"/>
                </a:solidFill>
                <a:latin typeface="Poppins"/>
                <a:ea typeface="Poppins"/>
                <a:cs typeface="Poppins"/>
                <a:sym typeface="Poppins"/>
              </a:rPr>
              <a:t>xplanations</a:t>
            </a:r>
            <a:endParaRPr dirty="0"/>
          </a:p>
        </p:txBody>
      </p:sp>
      <p:sp>
        <p:nvSpPr>
          <p:cNvPr id="219" name="Google Shape;219;p21"/>
          <p:cNvSpPr txBox="1"/>
          <p:nvPr/>
        </p:nvSpPr>
        <p:spPr>
          <a:xfrm>
            <a:off x="459087" y="2123679"/>
            <a:ext cx="5381625" cy="3201646"/>
          </a:xfrm>
          <a:prstGeom prst="rect">
            <a:avLst/>
          </a:prstGeom>
          <a:noFill/>
          <a:ln>
            <a:noFill/>
          </a:ln>
        </p:spPr>
        <p:txBody>
          <a:bodyPr spcFirstLastPara="1" wrap="square" lIns="0" tIns="0" rIns="0" bIns="0" anchor="t" anchorCtr="0">
            <a:spAutoFit/>
          </a:bodyPr>
          <a:lstStyle/>
          <a:p>
            <a:pPr marR="0" indent="0">
              <a:spcBef>
                <a:spcPts val="0"/>
              </a:spcBef>
              <a:spcAft>
                <a:spcPts val="0"/>
              </a:spcAft>
              <a:buNone/>
            </a:pPr>
            <a:r>
              <a:rPr lang="en-US" sz="1425" dirty="0">
                <a:solidFill>
                  <a:srgbClr val="334155"/>
                </a:solidFill>
                <a:latin typeface="Inter"/>
                <a:ea typeface="Inter"/>
                <a:sym typeface="Inter"/>
              </a:rPr>
              <a:t>Using exact Shapley values derived through </a:t>
            </a:r>
            <a:r>
              <a:rPr lang="en-US" sz="1425" dirty="0" err="1">
                <a:solidFill>
                  <a:schemeClr val="accent5"/>
                </a:solidFill>
                <a:latin typeface="Inter"/>
                <a:ea typeface="Inter"/>
                <a:sym typeface="Inter"/>
              </a:rPr>
              <a:t>TreeSHAP</a:t>
            </a:r>
            <a:r>
              <a:rPr lang="en-US" sz="1425" dirty="0">
                <a:solidFill>
                  <a:srgbClr val="334155"/>
                </a:solidFill>
                <a:latin typeface="Inter"/>
                <a:ea typeface="Inter"/>
                <a:sym typeface="Inter"/>
              </a:rPr>
              <a:t> to calculate clinical feature attributions in polynomial time.</a:t>
            </a:r>
          </a:p>
          <a:p>
            <a:pPr marL="0" marR="0" lvl="0" indent="0" algn="l" rtl="0">
              <a:lnSpc>
                <a:spcPct val="159929"/>
              </a:lnSpc>
              <a:spcBef>
                <a:spcPts val="0"/>
              </a:spcBef>
              <a:spcAft>
                <a:spcPts val="0"/>
              </a:spcAft>
              <a:buNone/>
            </a:pPr>
            <a:endParaRPr lang="en-US" sz="1425" dirty="0">
              <a:solidFill>
                <a:srgbClr val="334155"/>
              </a:solidFill>
              <a:latin typeface="Inter"/>
              <a:ea typeface="Inter"/>
              <a:sym typeface="Inter"/>
            </a:endParaRPr>
          </a:p>
          <a:p>
            <a:pPr lvl="0"/>
            <a:r>
              <a:rPr lang="it-IT" sz="1425" dirty="0">
                <a:solidFill>
                  <a:srgbClr val="334155"/>
                </a:solidFill>
                <a:latin typeface="Inter"/>
                <a:ea typeface="Inter"/>
              </a:rPr>
              <a:t>The Global </a:t>
            </a:r>
            <a:r>
              <a:rPr lang="it-IT" sz="1425" dirty="0" err="1">
                <a:solidFill>
                  <a:srgbClr val="334155"/>
                </a:solidFill>
                <a:latin typeface="Inter"/>
                <a:ea typeface="Inter"/>
              </a:rPr>
              <a:t>Summary</a:t>
            </a:r>
            <a:r>
              <a:rPr lang="it-IT" sz="1425" dirty="0">
                <a:solidFill>
                  <a:srgbClr val="334155"/>
                </a:solidFill>
                <a:latin typeface="Inter"/>
                <a:ea typeface="Inter"/>
              </a:rPr>
              <a:t> Plot </a:t>
            </a:r>
            <a:r>
              <a:rPr lang="it-IT" sz="1425" dirty="0" err="1">
                <a:solidFill>
                  <a:srgbClr val="334155"/>
                </a:solidFill>
                <a:latin typeface="Inter"/>
                <a:ea typeface="Inter"/>
              </a:rPr>
              <a:t>empirically</a:t>
            </a:r>
            <a:r>
              <a:rPr lang="it-IT" sz="1425" dirty="0">
                <a:solidFill>
                  <a:srgbClr val="334155"/>
                </a:solidFill>
                <a:latin typeface="Inter"/>
                <a:ea typeface="Inter"/>
              </a:rPr>
              <a:t> </a:t>
            </a:r>
            <a:r>
              <a:rPr lang="it-IT" sz="1425" dirty="0" err="1">
                <a:solidFill>
                  <a:srgbClr val="334155"/>
                </a:solidFill>
                <a:latin typeface="Inter"/>
                <a:ea typeface="Inter"/>
              </a:rPr>
              <a:t>validates</a:t>
            </a:r>
            <a:r>
              <a:rPr lang="it-IT" sz="1425" dirty="0">
                <a:solidFill>
                  <a:srgbClr val="334155"/>
                </a:solidFill>
                <a:latin typeface="Inter"/>
                <a:ea typeface="Inter"/>
              </a:rPr>
              <a:t> </a:t>
            </a:r>
            <a:r>
              <a:rPr lang="it-IT" sz="1425" dirty="0" err="1">
                <a:solidFill>
                  <a:srgbClr val="334155"/>
                </a:solidFill>
                <a:latin typeface="Inter"/>
                <a:ea typeface="Inter"/>
              </a:rPr>
              <a:t>our</a:t>
            </a:r>
            <a:r>
              <a:rPr lang="it-IT" sz="1425" dirty="0">
                <a:solidFill>
                  <a:srgbClr val="334155"/>
                </a:solidFill>
                <a:latin typeface="Inter"/>
                <a:ea typeface="Inter"/>
              </a:rPr>
              <a:t> </a:t>
            </a:r>
            <a:r>
              <a:rPr lang="it-IT" sz="1425" dirty="0" err="1">
                <a:solidFill>
                  <a:srgbClr val="334155"/>
                </a:solidFill>
                <a:latin typeface="Inter"/>
                <a:ea typeface="Inter"/>
              </a:rPr>
              <a:t>model's</a:t>
            </a:r>
            <a:r>
              <a:rPr lang="it-IT" sz="1425" dirty="0">
                <a:solidFill>
                  <a:srgbClr val="334155"/>
                </a:solidFill>
                <a:latin typeface="Inter"/>
                <a:ea typeface="Inter"/>
              </a:rPr>
              <a:t> </a:t>
            </a:r>
            <a:r>
              <a:rPr lang="it-IT" sz="1425" dirty="0" err="1">
                <a:solidFill>
                  <a:srgbClr val="334155"/>
                </a:solidFill>
                <a:latin typeface="Inter"/>
                <a:ea typeface="Inter"/>
              </a:rPr>
              <a:t>physiological</a:t>
            </a:r>
            <a:r>
              <a:rPr lang="it-IT" sz="1425" dirty="0">
                <a:solidFill>
                  <a:srgbClr val="334155"/>
                </a:solidFill>
                <a:latin typeface="Inter"/>
                <a:ea typeface="Inter"/>
              </a:rPr>
              <a:t> </a:t>
            </a:r>
            <a:r>
              <a:rPr lang="it-IT" sz="1425" dirty="0" err="1">
                <a:solidFill>
                  <a:srgbClr val="334155"/>
                </a:solidFill>
                <a:latin typeface="Inter"/>
                <a:ea typeface="Inter"/>
              </a:rPr>
              <a:t>logic</a:t>
            </a:r>
            <a:r>
              <a:rPr lang="it-IT" sz="1425" dirty="0">
                <a:solidFill>
                  <a:srgbClr val="334155"/>
                </a:solidFill>
                <a:latin typeface="Inter"/>
                <a:ea typeface="Inter"/>
              </a:rPr>
              <a:t>: </a:t>
            </a:r>
            <a:r>
              <a:rPr lang="it-IT" sz="1425" dirty="0" err="1">
                <a:solidFill>
                  <a:srgbClr val="334155"/>
                </a:solidFill>
                <a:latin typeface="Inter"/>
                <a:ea typeface="Inter"/>
              </a:rPr>
              <a:t>our</a:t>
            </a:r>
            <a:r>
              <a:rPr lang="it-IT" sz="1425" dirty="0">
                <a:solidFill>
                  <a:srgbClr val="334155"/>
                </a:solidFill>
                <a:latin typeface="Inter"/>
                <a:ea typeface="Inter"/>
              </a:rPr>
              <a:t> </a:t>
            </a:r>
            <a:r>
              <a:rPr lang="it-IT" sz="1425" dirty="0" err="1">
                <a:solidFill>
                  <a:srgbClr val="334155"/>
                </a:solidFill>
                <a:latin typeface="Inter"/>
                <a:ea typeface="Inter"/>
              </a:rPr>
              <a:t>engineered</a:t>
            </a:r>
            <a:r>
              <a:rPr lang="it-IT" sz="1425" dirty="0">
                <a:solidFill>
                  <a:srgbClr val="334155"/>
                </a:solidFill>
                <a:latin typeface="Inter"/>
                <a:ea typeface="Inter"/>
              </a:rPr>
              <a:t> features, </a:t>
            </a:r>
            <a:r>
              <a:rPr lang="it-IT" sz="1425" dirty="0" err="1">
                <a:solidFill>
                  <a:srgbClr val="334155"/>
                </a:solidFill>
                <a:latin typeface="Inter"/>
                <a:ea typeface="Inter"/>
              </a:rPr>
              <a:t>specifically</a:t>
            </a:r>
            <a:r>
              <a:rPr lang="it-IT" sz="1425" dirty="0">
                <a:solidFill>
                  <a:srgbClr val="334155"/>
                </a:solidFill>
                <a:latin typeface="Inter"/>
                <a:ea typeface="Inter"/>
              </a:rPr>
              <a:t> </a:t>
            </a:r>
            <a:r>
              <a:rPr lang="it-IT" sz="1425" dirty="0" err="1">
                <a:solidFill>
                  <a:srgbClr val="334155"/>
                </a:solidFill>
                <a:latin typeface="Inter"/>
                <a:ea typeface="Inter"/>
              </a:rPr>
              <a:t>eda_slope</a:t>
            </a:r>
            <a:r>
              <a:rPr lang="it-IT" sz="1425" dirty="0">
                <a:solidFill>
                  <a:srgbClr val="334155"/>
                </a:solidFill>
                <a:latin typeface="Inter"/>
                <a:ea typeface="Inter"/>
              </a:rPr>
              <a:t> and </a:t>
            </a:r>
            <a:r>
              <a:rPr lang="it-IT" sz="1425" dirty="0" err="1">
                <a:solidFill>
                  <a:srgbClr val="334155"/>
                </a:solidFill>
                <a:latin typeface="Inter"/>
                <a:ea typeface="Inter"/>
              </a:rPr>
              <a:t>eda_mean</a:t>
            </a:r>
            <a:r>
              <a:rPr lang="it-IT" sz="1425" dirty="0">
                <a:solidFill>
                  <a:srgbClr val="334155"/>
                </a:solidFill>
                <a:latin typeface="Inter"/>
                <a:ea typeface="Inter"/>
              </a:rPr>
              <a:t>, emerge </a:t>
            </a:r>
            <a:r>
              <a:rPr lang="it-IT" sz="1425" dirty="0" err="1">
                <a:solidFill>
                  <a:srgbClr val="334155"/>
                </a:solidFill>
                <a:latin typeface="Inter"/>
                <a:ea typeface="Inter"/>
              </a:rPr>
              <a:t>as</a:t>
            </a:r>
            <a:r>
              <a:rPr lang="it-IT" sz="1425" dirty="0">
                <a:solidFill>
                  <a:srgbClr val="334155"/>
                </a:solidFill>
                <a:latin typeface="Inter"/>
                <a:ea typeface="Inter"/>
              </a:rPr>
              <a:t> the </a:t>
            </a:r>
            <a:r>
              <a:rPr lang="it-IT" sz="1425" dirty="0" err="1">
                <a:solidFill>
                  <a:srgbClr val="334155"/>
                </a:solidFill>
                <a:latin typeface="Inter"/>
                <a:ea typeface="Inter"/>
              </a:rPr>
              <a:t>most</a:t>
            </a:r>
            <a:r>
              <a:rPr lang="it-IT" sz="1425" dirty="0">
                <a:solidFill>
                  <a:srgbClr val="334155"/>
                </a:solidFill>
                <a:latin typeface="Inter"/>
                <a:ea typeface="Inter"/>
              </a:rPr>
              <a:t> </a:t>
            </a:r>
            <a:r>
              <a:rPr lang="it-IT" sz="1425" dirty="0" err="1">
                <a:solidFill>
                  <a:srgbClr val="334155"/>
                </a:solidFill>
                <a:latin typeface="Inter"/>
                <a:ea typeface="Inter"/>
              </a:rPr>
              <a:t>powerful</a:t>
            </a:r>
            <a:r>
              <a:rPr lang="it-IT" sz="1425" dirty="0">
                <a:solidFill>
                  <a:srgbClr val="334155"/>
                </a:solidFill>
                <a:latin typeface="Inter"/>
                <a:ea typeface="Inter"/>
              </a:rPr>
              <a:t> global </a:t>
            </a:r>
            <a:r>
              <a:rPr lang="it-IT" sz="1425" dirty="0" err="1">
                <a:solidFill>
                  <a:srgbClr val="334155"/>
                </a:solidFill>
                <a:latin typeface="Inter"/>
                <a:ea typeface="Inter"/>
              </a:rPr>
              <a:t>predictors</a:t>
            </a:r>
            <a:r>
              <a:rPr lang="it-IT" sz="1425" dirty="0">
                <a:solidFill>
                  <a:srgbClr val="334155"/>
                </a:solidFill>
                <a:latin typeface="Inter"/>
                <a:ea typeface="Inter"/>
              </a:rPr>
              <a:t>. </a:t>
            </a:r>
          </a:p>
          <a:p>
            <a:pPr lvl="0"/>
            <a:endParaRPr lang="it-IT" sz="1425" dirty="0">
              <a:solidFill>
                <a:srgbClr val="334155"/>
              </a:solidFill>
              <a:latin typeface="Inter"/>
              <a:ea typeface="Inter"/>
            </a:endParaRPr>
          </a:p>
          <a:p>
            <a:pPr lvl="0"/>
            <a:r>
              <a:rPr lang="it-IT" sz="1425" dirty="0">
                <a:solidFill>
                  <a:srgbClr val="334155"/>
                </a:solidFill>
                <a:latin typeface="Inter"/>
                <a:ea typeface="Inter"/>
              </a:rPr>
              <a:t>High </a:t>
            </a:r>
            <a:r>
              <a:rPr lang="it-IT" sz="1425" dirty="0" err="1">
                <a:solidFill>
                  <a:srgbClr val="334155"/>
                </a:solidFill>
                <a:latin typeface="Inter"/>
                <a:ea typeface="Inter"/>
              </a:rPr>
              <a:t>skin</a:t>
            </a:r>
            <a:r>
              <a:rPr lang="it-IT" sz="1425" dirty="0">
                <a:solidFill>
                  <a:srgbClr val="334155"/>
                </a:solidFill>
                <a:latin typeface="Inter"/>
                <a:ea typeface="Inter"/>
              </a:rPr>
              <a:t> </a:t>
            </a:r>
            <a:r>
              <a:rPr lang="it-IT" sz="1425" dirty="0" err="1">
                <a:solidFill>
                  <a:srgbClr val="334155"/>
                </a:solidFill>
                <a:latin typeface="Inter"/>
                <a:ea typeface="Inter"/>
              </a:rPr>
              <a:t>conductance</a:t>
            </a:r>
            <a:r>
              <a:rPr lang="it-IT" sz="1425" dirty="0">
                <a:solidFill>
                  <a:srgbClr val="334155"/>
                </a:solidFill>
                <a:latin typeface="Inter"/>
                <a:ea typeface="Inter"/>
              </a:rPr>
              <a:t> </a:t>
            </a:r>
            <a:r>
              <a:rPr lang="it-IT" sz="1425" dirty="0" err="1">
                <a:solidFill>
                  <a:srgbClr val="334155"/>
                </a:solidFill>
                <a:latin typeface="Inter"/>
                <a:ea typeface="Inter"/>
              </a:rPr>
              <a:t>levels</a:t>
            </a:r>
            <a:r>
              <a:rPr lang="it-IT" sz="1425" dirty="0">
                <a:solidFill>
                  <a:srgbClr val="334155"/>
                </a:solidFill>
                <a:latin typeface="Inter"/>
                <a:ea typeface="Inter"/>
              </a:rPr>
              <a:t> (</a:t>
            </a:r>
            <a:r>
              <a:rPr lang="it-IT" sz="1425" dirty="0">
                <a:solidFill>
                  <a:srgbClr val="FF0000"/>
                </a:solidFill>
                <a:latin typeface="Inter"/>
                <a:ea typeface="Inter"/>
              </a:rPr>
              <a:t>red dots</a:t>
            </a:r>
            <a:r>
              <a:rPr lang="it-IT" sz="1425" dirty="0">
                <a:solidFill>
                  <a:srgbClr val="334155"/>
                </a:solidFill>
                <a:latin typeface="Inter"/>
                <a:ea typeface="Inter"/>
              </a:rPr>
              <a:t>)</a:t>
            </a:r>
            <a:r>
              <a:rPr lang="en-GB" sz="1425" dirty="0">
                <a:solidFill>
                  <a:srgbClr val="334155"/>
                </a:solidFill>
                <a:latin typeface="Inter"/>
                <a:ea typeface="Inter"/>
              </a:rPr>
              <a:t> are located entirely on the right side of the axis and</a:t>
            </a:r>
            <a:r>
              <a:rPr lang="it-IT" sz="1425" dirty="0">
                <a:solidFill>
                  <a:srgbClr val="334155"/>
                </a:solidFill>
                <a:latin typeface="Inter"/>
                <a:ea typeface="Inter"/>
              </a:rPr>
              <a:t> </a:t>
            </a:r>
            <a:r>
              <a:rPr lang="it-IT" sz="1425" dirty="0" err="1">
                <a:solidFill>
                  <a:srgbClr val="334155"/>
                </a:solidFill>
                <a:latin typeface="Inter"/>
                <a:ea typeface="Inter"/>
              </a:rPr>
              <a:t>consistently</a:t>
            </a:r>
            <a:r>
              <a:rPr lang="it-IT" sz="1425" dirty="0">
                <a:solidFill>
                  <a:srgbClr val="334155"/>
                </a:solidFill>
                <a:latin typeface="Inter"/>
                <a:ea typeface="Inter"/>
              </a:rPr>
              <a:t> </a:t>
            </a:r>
            <a:r>
              <a:rPr lang="it-IT" sz="1425" dirty="0" err="1">
                <a:solidFill>
                  <a:srgbClr val="334155"/>
                </a:solidFill>
                <a:latin typeface="Inter"/>
                <a:ea typeface="Inter"/>
              </a:rPr>
              <a:t>push</a:t>
            </a:r>
            <a:r>
              <a:rPr lang="it-IT" sz="1425" dirty="0">
                <a:solidFill>
                  <a:srgbClr val="334155"/>
                </a:solidFill>
                <a:latin typeface="Inter"/>
                <a:ea typeface="Inter"/>
              </a:rPr>
              <a:t> </a:t>
            </a:r>
            <a:r>
              <a:rPr lang="it-IT" sz="1425" dirty="0" err="1">
                <a:solidFill>
                  <a:srgbClr val="334155"/>
                </a:solidFill>
                <a:latin typeface="Inter"/>
                <a:ea typeface="Inter"/>
              </a:rPr>
              <a:t>predictions</a:t>
            </a:r>
            <a:r>
              <a:rPr lang="it-IT" sz="1425" dirty="0">
                <a:solidFill>
                  <a:srgbClr val="334155"/>
                </a:solidFill>
                <a:latin typeface="Inter"/>
                <a:ea typeface="Inter"/>
              </a:rPr>
              <a:t> </a:t>
            </a:r>
            <a:r>
              <a:rPr lang="it-IT" sz="1425" dirty="0" err="1">
                <a:solidFill>
                  <a:srgbClr val="334155"/>
                </a:solidFill>
                <a:latin typeface="Inter"/>
                <a:ea typeface="Inter"/>
              </a:rPr>
              <a:t>toward</a:t>
            </a:r>
            <a:r>
              <a:rPr lang="it-IT" sz="1425" dirty="0">
                <a:solidFill>
                  <a:srgbClr val="334155"/>
                </a:solidFill>
                <a:latin typeface="Inter"/>
                <a:ea typeface="Inter"/>
              </a:rPr>
              <a:t> Stress (SHAP &gt; 0). </a:t>
            </a:r>
            <a:r>
              <a:rPr lang="it-IT" sz="1425" dirty="0" err="1">
                <a:solidFill>
                  <a:srgbClr val="334155"/>
                </a:solidFill>
                <a:latin typeface="Inter"/>
                <a:ea typeface="Inter"/>
              </a:rPr>
              <a:t>This</a:t>
            </a:r>
            <a:r>
              <a:rPr lang="it-IT" sz="1425" dirty="0">
                <a:solidFill>
                  <a:srgbClr val="334155"/>
                </a:solidFill>
                <a:latin typeface="Inter"/>
                <a:ea typeface="Inter"/>
              </a:rPr>
              <a:t> </a:t>
            </a:r>
            <a:r>
              <a:rPr lang="it-IT" sz="1425" dirty="0" err="1">
                <a:solidFill>
                  <a:srgbClr val="334155"/>
                </a:solidFill>
                <a:latin typeface="Inter"/>
                <a:ea typeface="Inter"/>
              </a:rPr>
              <a:t>mathematically</a:t>
            </a:r>
            <a:r>
              <a:rPr lang="it-IT" sz="1425" dirty="0">
                <a:solidFill>
                  <a:srgbClr val="334155"/>
                </a:solidFill>
                <a:latin typeface="Inter"/>
                <a:ea typeface="Inter"/>
              </a:rPr>
              <a:t> </a:t>
            </a:r>
            <a:r>
              <a:rPr lang="it-IT" sz="1425" dirty="0" err="1">
                <a:solidFill>
                  <a:srgbClr val="334155"/>
                </a:solidFill>
                <a:latin typeface="Inter"/>
                <a:ea typeface="Inter"/>
              </a:rPr>
              <a:t>proves</a:t>
            </a:r>
            <a:r>
              <a:rPr lang="it-IT" sz="1425" dirty="0">
                <a:solidFill>
                  <a:srgbClr val="334155"/>
                </a:solidFill>
                <a:latin typeface="Inter"/>
                <a:ea typeface="Inter"/>
              </a:rPr>
              <a:t> </a:t>
            </a:r>
            <a:r>
              <a:rPr lang="it-IT" sz="1425" dirty="0" err="1">
                <a:solidFill>
                  <a:srgbClr val="334155"/>
                </a:solidFill>
                <a:latin typeface="Inter"/>
                <a:ea typeface="Inter"/>
              </a:rPr>
              <a:t>that</a:t>
            </a:r>
            <a:r>
              <a:rPr lang="it-IT" sz="1425" dirty="0">
                <a:solidFill>
                  <a:srgbClr val="334155"/>
                </a:solidFill>
                <a:latin typeface="Inter"/>
                <a:ea typeface="Inter"/>
              </a:rPr>
              <a:t> the </a:t>
            </a:r>
            <a:r>
              <a:rPr lang="it-IT" sz="1425" dirty="0" err="1">
                <a:solidFill>
                  <a:srgbClr val="334155"/>
                </a:solidFill>
                <a:latin typeface="Inter"/>
                <a:ea typeface="Inter"/>
              </a:rPr>
              <a:t>algorithm</a:t>
            </a:r>
            <a:r>
              <a:rPr lang="it-IT" sz="1425" dirty="0">
                <a:solidFill>
                  <a:srgbClr val="334155"/>
                </a:solidFill>
                <a:latin typeface="Inter"/>
                <a:ea typeface="Inter"/>
              </a:rPr>
              <a:t> </a:t>
            </a:r>
            <a:r>
              <a:rPr lang="it-IT" sz="1425" dirty="0" err="1">
                <a:solidFill>
                  <a:srgbClr val="334155"/>
                </a:solidFill>
                <a:latin typeface="Inter"/>
                <a:ea typeface="Inter"/>
              </a:rPr>
              <a:t>does</a:t>
            </a:r>
            <a:r>
              <a:rPr lang="it-IT" sz="1425" dirty="0">
                <a:solidFill>
                  <a:srgbClr val="334155"/>
                </a:solidFill>
                <a:latin typeface="Inter"/>
                <a:ea typeface="Inter"/>
              </a:rPr>
              <a:t> </a:t>
            </a:r>
            <a:r>
              <a:rPr lang="it-IT" sz="1425" dirty="0" err="1">
                <a:solidFill>
                  <a:srgbClr val="334155"/>
                </a:solidFill>
                <a:latin typeface="Inter"/>
                <a:ea typeface="Inter"/>
              </a:rPr>
              <a:t>not</a:t>
            </a:r>
            <a:r>
              <a:rPr lang="it-IT" sz="1425" dirty="0">
                <a:solidFill>
                  <a:srgbClr val="334155"/>
                </a:solidFill>
                <a:latin typeface="Inter"/>
                <a:ea typeface="Inter"/>
              </a:rPr>
              <a:t> </a:t>
            </a:r>
            <a:r>
              <a:rPr lang="it-IT" sz="1425" dirty="0" err="1">
                <a:solidFill>
                  <a:srgbClr val="334155"/>
                </a:solidFill>
                <a:latin typeface="Inter"/>
                <a:ea typeface="Inter"/>
              </a:rPr>
              <a:t>rely</a:t>
            </a:r>
            <a:r>
              <a:rPr lang="it-IT" sz="1425" dirty="0">
                <a:solidFill>
                  <a:srgbClr val="334155"/>
                </a:solidFill>
                <a:latin typeface="Inter"/>
                <a:ea typeface="Inter"/>
              </a:rPr>
              <a:t> on </a:t>
            </a:r>
            <a:r>
              <a:rPr lang="it-IT" sz="1425" dirty="0" err="1">
                <a:solidFill>
                  <a:srgbClr val="334155"/>
                </a:solidFill>
                <a:latin typeface="Inter"/>
                <a:ea typeface="Inter"/>
              </a:rPr>
              <a:t>noise</a:t>
            </a:r>
            <a:r>
              <a:rPr lang="it-IT" sz="1425" dirty="0">
                <a:solidFill>
                  <a:srgbClr val="334155"/>
                </a:solidFill>
                <a:latin typeface="Inter"/>
                <a:ea typeface="Inter"/>
              </a:rPr>
              <a:t>, </a:t>
            </a:r>
            <a:r>
              <a:rPr lang="it-IT" sz="1425" dirty="0" err="1">
                <a:solidFill>
                  <a:srgbClr val="334155"/>
                </a:solidFill>
                <a:latin typeface="Inter"/>
                <a:ea typeface="Inter"/>
              </a:rPr>
              <a:t>but</a:t>
            </a:r>
            <a:r>
              <a:rPr lang="it-IT" sz="1425" dirty="0">
                <a:solidFill>
                  <a:srgbClr val="334155"/>
                </a:solidFill>
                <a:latin typeface="Inter"/>
                <a:ea typeface="Inter"/>
              </a:rPr>
              <a:t> </a:t>
            </a:r>
            <a:r>
              <a:rPr lang="it-IT" sz="1425" dirty="0" err="1">
                <a:solidFill>
                  <a:srgbClr val="334155"/>
                </a:solidFill>
                <a:latin typeface="Inter"/>
                <a:ea typeface="Inter"/>
              </a:rPr>
              <a:t>mirrors</a:t>
            </a:r>
            <a:r>
              <a:rPr lang="it-IT" sz="1425" dirty="0">
                <a:solidFill>
                  <a:srgbClr val="334155"/>
                </a:solidFill>
                <a:latin typeface="Inter"/>
                <a:ea typeface="Inter"/>
              </a:rPr>
              <a:t> the </a:t>
            </a:r>
            <a:r>
              <a:rPr lang="it-IT" sz="1425" dirty="0" err="1">
                <a:solidFill>
                  <a:srgbClr val="334155"/>
                </a:solidFill>
                <a:latin typeface="Inter"/>
                <a:ea typeface="Inter"/>
              </a:rPr>
              <a:t>diagnostic</a:t>
            </a:r>
            <a:r>
              <a:rPr lang="it-IT" sz="1425" dirty="0">
                <a:solidFill>
                  <a:srgbClr val="334155"/>
                </a:solidFill>
                <a:latin typeface="Inter"/>
                <a:ea typeface="Inter"/>
              </a:rPr>
              <a:t> </a:t>
            </a:r>
            <a:r>
              <a:rPr lang="it-IT" sz="1425" dirty="0" err="1">
                <a:solidFill>
                  <a:srgbClr val="334155"/>
                </a:solidFill>
                <a:latin typeface="Inter"/>
                <a:ea typeface="Inter"/>
              </a:rPr>
              <a:t>reasoning</a:t>
            </a:r>
            <a:r>
              <a:rPr lang="it-IT" sz="1425" dirty="0">
                <a:solidFill>
                  <a:srgbClr val="334155"/>
                </a:solidFill>
                <a:latin typeface="Inter"/>
                <a:ea typeface="Inter"/>
              </a:rPr>
              <a:t> of a human doctor: </a:t>
            </a:r>
            <a:r>
              <a:rPr lang="it-IT" sz="1425" dirty="0" err="1">
                <a:solidFill>
                  <a:srgbClr val="334155"/>
                </a:solidFill>
                <a:latin typeface="Inter"/>
                <a:ea typeface="Inter"/>
              </a:rPr>
              <a:t>rapid</a:t>
            </a:r>
            <a:r>
              <a:rPr lang="it-IT" sz="1425" dirty="0">
                <a:solidFill>
                  <a:srgbClr val="334155"/>
                </a:solidFill>
                <a:latin typeface="Inter"/>
                <a:ea typeface="Inter"/>
              </a:rPr>
              <a:t> </a:t>
            </a:r>
            <a:r>
              <a:rPr lang="it-IT" sz="1425" dirty="0" err="1">
                <a:solidFill>
                  <a:srgbClr val="334155"/>
                </a:solidFill>
                <a:latin typeface="Inter"/>
                <a:ea typeface="Inter"/>
              </a:rPr>
              <a:t>sweat</a:t>
            </a:r>
            <a:r>
              <a:rPr lang="it-IT" sz="1425" dirty="0">
                <a:solidFill>
                  <a:srgbClr val="334155"/>
                </a:solidFill>
                <a:latin typeface="Inter"/>
                <a:ea typeface="Inter"/>
              </a:rPr>
              <a:t> </a:t>
            </a:r>
            <a:r>
              <a:rPr lang="it-IT" sz="1425" dirty="0" err="1">
                <a:solidFill>
                  <a:srgbClr val="334155"/>
                </a:solidFill>
                <a:latin typeface="Inter"/>
                <a:ea typeface="Inter"/>
              </a:rPr>
              <a:t>increases</a:t>
            </a:r>
            <a:r>
              <a:rPr lang="it-IT" sz="1425" dirty="0">
                <a:solidFill>
                  <a:srgbClr val="334155"/>
                </a:solidFill>
                <a:latin typeface="Inter"/>
                <a:ea typeface="Inter"/>
              </a:rPr>
              <a:t> indicate acute </a:t>
            </a:r>
            <a:r>
              <a:rPr lang="it-IT" sz="1425" dirty="0" err="1">
                <a:solidFill>
                  <a:srgbClr val="334155"/>
                </a:solidFill>
                <a:latin typeface="Inter"/>
                <a:ea typeface="Inter"/>
              </a:rPr>
              <a:t>sympathetic</a:t>
            </a:r>
            <a:r>
              <a:rPr lang="it-IT" sz="1425" dirty="0">
                <a:solidFill>
                  <a:srgbClr val="334155"/>
                </a:solidFill>
                <a:latin typeface="Inter"/>
                <a:ea typeface="Inter"/>
              </a:rPr>
              <a:t> stress.</a:t>
            </a:r>
            <a:endParaRPr lang="en-US" sz="1425" dirty="0">
              <a:solidFill>
                <a:srgbClr val="334155"/>
              </a:solidFill>
              <a:latin typeface="Inter"/>
              <a:ea typeface="Inter"/>
              <a:sym typeface="Inter"/>
            </a:endParaRPr>
          </a:p>
        </p:txBody>
      </p:sp>
      <p:pic>
        <p:nvPicPr>
          <p:cNvPr id="3" name="Immagine 2">
            <a:extLst>
              <a:ext uri="{FF2B5EF4-FFF2-40B4-BE49-F238E27FC236}">
                <a16:creationId xmlns:a16="http://schemas.microsoft.com/office/drawing/2014/main" id="{6C5FFC6D-5DFA-5695-9897-521013AA67ED}"/>
              </a:ext>
            </a:extLst>
          </p:cNvPr>
          <p:cNvPicPr>
            <a:picLocks noChangeAspect="1"/>
          </p:cNvPicPr>
          <p:nvPr/>
        </p:nvPicPr>
        <p:blipFill>
          <a:blip r:embed="rId4"/>
          <a:stretch>
            <a:fillRect/>
          </a:stretch>
        </p:blipFill>
        <p:spPr>
          <a:xfrm>
            <a:off x="5910409" y="1644403"/>
            <a:ext cx="6281591" cy="34639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4"/>
        <p:cNvGrpSpPr/>
        <p:nvPr/>
      </p:nvGrpSpPr>
      <p:grpSpPr>
        <a:xfrm>
          <a:off x="0" y="0"/>
          <a:ext cx="0" cy="0"/>
          <a:chOff x="0" y="0"/>
          <a:chExt cx="0" cy="0"/>
        </a:xfrm>
      </p:grpSpPr>
      <p:pic>
        <p:nvPicPr>
          <p:cNvPr id="235" name="Google Shape;23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6" name="Google Shape;236;p23"/>
          <p:cNvSpPr txBox="1"/>
          <p:nvPr/>
        </p:nvSpPr>
        <p:spPr>
          <a:xfrm>
            <a:off x="719137" y="1361797"/>
            <a:ext cx="10934700" cy="923330"/>
          </a:xfrm>
          <a:prstGeom prst="rect">
            <a:avLst/>
          </a:prstGeom>
          <a:noFill/>
          <a:ln>
            <a:noFill/>
          </a:ln>
        </p:spPr>
        <p:txBody>
          <a:bodyPr spcFirstLastPara="1" wrap="square" lIns="0" tIns="0" rIns="0" bIns="0" anchor="t" anchorCtr="0">
            <a:spAutoFit/>
          </a:bodyPr>
          <a:lstStyle/>
          <a:p>
            <a:pPr lvl="0"/>
            <a:r>
              <a:rPr lang="it-IT" sz="1500" dirty="0" err="1">
                <a:solidFill>
                  <a:srgbClr val="334155"/>
                </a:solidFill>
                <a:latin typeface="Inter"/>
                <a:ea typeface="Inter"/>
              </a:rPr>
              <a:t>Evaluated</a:t>
            </a:r>
            <a:r>
              <a:rPr lang="it-IT" sz="1500" dirty="0">
                <a:solidFill>
                  <a:srgbClr val="334155"/>
                </a:solidFill>
                <a:latin typeface="Inter"/>
                <a:ea typeface="Inter"/>
              </a:rPr>
              <a:t> </a:t>
            </a:r>
            <a:r>
              <a:rPr lang="it-IT" sz="1500" dirty="0" err="1">
                <a:solidFill>
                  <a:srgbClr val="334155"/>
                </a:solidFill>
                <a:latin typeface="Inter"/>
                <a:ea typeface="Inter"/>
              </a:rPr>
              <a:t>rigorously</a:t>
            </a:r>
            <a:r>
              <a:rPr lang="it-IT" sz="1500" dirty="0">
                <a:solidFill>
                  <a:srgbClr val="334155"/>
                </a:solidFill>
                <a:latin typeface="Inter"/>
                <a:ea typeface="Inter"/>
              </a:rPr>
              <a:t> on </a:t>
            </a:r>
            <a:r>
              <a:rPr lang="it-IT" sz="1500" dirty="0" err="1">
                <a:solidFill>
                  <a:srgbClr val="334155"/>
                </a:solidFill>
                <a:latin typeface="Inter"/>
                <a:ea typeface="Inter"/>
              </a:rPr>
              <a:t>unseen</a:t>
            </a:r>
            <a:r>
              <a:rPr lang="it-IT" sz="1500" dirty="0">
                <a:solidFill>
                  <a:srgbClr val="334155"/>
                </a:solidFill>
                <a:latin typeface="Inter"/>
                <a:ea typeface="Inter"/>
              </a:rPr>
              <a:t> </a:t>
            </a:r>
            <a:r>
              <a:rPr lang="it-IT" sz="1500" dirty="0" err="1">
                <a:solidFill>
                  <a:srgbClr val="334155"/>
                </a:solidFill>
                <a:latin typeface="Inter"/>
                <a:ea typeface="Inter"/>
              </a:rPr>
              <a:t>patients</a:t>
            </a:r>
            <a:r>
              <a:rPr lang="it-IT" sz="1500" dirty="0">
                <a:solidFill>
                  <a:srgbClr val="334155"/>
                </a:solidFill>
                <a:latin typeface="Inter"/>
                <a:ea typeface="Inter"/>
              </a:rPr>
              <a:t> via the LOSO framework, </a:t>
            </a:r>
            <a:r>
              <a:rPr lang="it-IT" sz="1500" dirty="0" err="1">
                <a:solidFill>
                  <a:srgbClr val="334155"/>
                </a:solidFill>
                <a:latin typeface="Inter"/>
                <a:ea typeface="Inter"/>
              </a:rPr>
              <a:t>SafeStress</a:t>
            </a:r>
            <a:r>
              <a:rPr lang="it-IT" sz="1500" dirty="0">
                <a:solidFill>
                  <a:srgbClr val="334155"/>
                </a:solidFill>
                <a:latin typeface="Inter"/>
                <a:ea typeface="Inter"/>
              </a:rPr>
              <a:t>-ML </a:t>
            </a:r>
            <a:r>
              <a:rPr lang="it-IT" sz="1500" dirty="0" err="1">
                <a:solidFill>
                  <a:srgbClr val="334155"/>
                </a:solidFill>
                <a:latin typeface="Inter"/>
                <a:ea typeface="Inter"/>
              </a:rPr>
              <a:t>achieved</a:t>
            </a:r>
            <a:r>
              <a:rPr lang="it-IT" sz="1500" dirty="0">
                <a:solidFill>
                  <a:srgbClr val="334155"/>
                </a:solidFill>
                <a:latin typeface="Inter"/>
                <a:ea typeface="Inter"/>
              </a:rPr>
              <a:t> a </a:t>
            </a:r>
            <a:r>
              <a:rPr lang="it-IT" sz="1500" dirty="0" err="1">
                <a:solidFill>
                  <a:srgbClr val="334155"/>
                </a:solidFill>
                <a:latin typeface="Inter"/>
                <a:ea typeface="Inter"/>
              </a:rPr>
              <a:t>final</a:t>
            </a:r>
            <a:r>
              <a:rPr lang="it-IT" sz="1500" dirty="0">
                <a:solidFill>
                  <a:srgbClr val="334155"/>
                </a:solidFill>
                <a:latin typeface="Inter"/>
                <a:ea typeface="Inter"/>
              </a:rPr>
              <a:t> </a:t>
            </a:r>
            <a:r>
              <a:rPr lang="it-IT" sz="1500" dirty="0" err="1">
                <a:solidFill>
                  <a:srgbClr val="334155"/>
                </a:solidFill>
                <a:latin typeface="Inter"/>
                <a:ea typeface="Inter"/>
              </a:rPr>
              <a:t>optimized</a:t>
            </a:r>
            <a:r>
              <a:rPr lang="it-IT" sz="1500" dirty="0">
                <a:solidFill>
                  <a:srgbClr val="334155"/>
                </a:solidFill>
                <a:latin typeface="Inter"/>
                <a:ea typeface="Inter"/>
              </a:rPr>
              <a:t> Macro F1-score of </a:t>
            </a:r>
            <a:r>
              <a:rPr lang="it-IT" sz="1500" dirty="0">
                <a:solidFill>
                  <a:schemeClr val="accent5"/>
                </a:solidFill>
                <a:latin typeface="Inter"/>
                <a:ea typeface="Inter"/>
              </a:rPr>
              <a:t>86.26</a:t>
            </a:r>
            <a:r>
              <a:rPr lang="it-IT" sz="1500" dirty="0">
                <a:solidFill>
                  <a:srgbClr val="334155"/>
                </a:solidFill>
                <a:latin typeface="Inter"/>
                <a:ea typeface="Inter"/>
              </a:rPr>
              <a:t>%. The </a:t>
            </a:r>
            <a:r>
              <a:rPr lang="it-IT" sz="1500" dirty="0" err="1">
                <a:solidFill>
                  <a:srgbClr val="334155"/>
                </a:solidFill>
                <a:latin typeface="Inter"/>
                <a:ea typeface="Inter"/>
              </a:rPr>
              <a:t>aggregated</a:t>
            </a:r>
            <a:r>
              <a:rPr lang="it-IT" sz="1500" dirty="0">
                <a:solidFill>
                  <a:srgbClr val="334155"/>
                </a:solidFill>
                <a:latin typeface="Inter"/>
                <a:ea typeface="Inter"/>
              </a:rPr>
              <a:t> </a:t>
            </a:r>
            <a:r>
              <a:rPr lang="it-IT" sz="1500" dirty="0" err="1">
                <a:solidFill>
                  <a:srgbClr val="334155"/>
                </a:solidFill>
                <a:latin typeface="Inter"/>
                <a:ea typeface="Inter"/>
              </a:rPr>
              <a:t>Confusion</a:t>
            </a:r>
            <a:r>
              <a:rPr lang="it-IT" sz="1500" dirty="0">
                <a:solidFill>
                  <a:srgbClr val="334155"/>
                </a:solidFill>
                <a:latin typeface="Inter"/>
                <a:ea typeface="Inter"/>
              </a:rPr>
              <a:t> Matrix </a:t>
            </a:r>
            <a:r>
              <a:rPr lang="it-IT" sz="1500" dirty="0" err="1">
                <a:solidFill>
                  <a:srgbClr val="334155"/>
                </a:solidFill>
                <a:latin typeface="Inter"/>
                <a:ea typeface="Inter"/>
              </a:rPr>
              <a:t>reveals</a:t>
            </a:r>
            <a:r>
              <a:rPr lang="it-IT" sz="1500" dirty="0">
                <a:solidFill>
                  <a:srgbClr val="334155"/>
                </a:solidFill>
                <a:latin typeface="Inter"/>
                <a:ea typeface="Inter"/>
              </a:rPr>
              <a:t> </a:t>
            </a:r>
            <a:r>
              <a:rPr lang="it-IT" sz="1500" dirty="0" err="1">
                <a:solidFill>
                  <a:srgbClr val="334155"/>
                </a:solidFill>
                <a:latin typeface="Inter"/>
                <a:ea typeface="Inter"/>
              </a:rPr>
              <a:t>that</a:t>
            </a:r>
            <a:r>
              <a:rPr lang="it-IT" sz="1500" dirty="0">
                <a:solidFill>
                  <a:srgbClr val="334155"/>
                </a:solidFill>
                <a:latin typeface="Inter"/>
                <a:ea typeface="Inter"/>
              </a:rPr>
              <a:t> the model </a:t>
            </a:r>
            <a:r>
              <a:rPr lang="it-IT" sz="1500" dirty="0" err="1">
                <a:solidFill>
                  <a:srgbClr val="334155"/>
                </a:solidFill>
                <a:latin typeface="Inter"/>
                <a:ea typeface="Inter"/>
              </a:rPr>
              <a:t>produced</a:t>
            </a:r>
            <a:r>
              <a:rPr lang="it-IT" sz="1500" dirty="0">
                <a:solidFill>
                  <a:srgbClr val="334155"/>
                </a:solidFill>
                <a:latin typeface="Inter"/>
                <a:ea typeface="Inter"/>
              </a:rPr>
              <a:t> </a:t>
            </a:r>
            <a:r>
              <a:rPr lang="it-IT" sz="1500" dirty="0" err="1">
                <a:solidFill>
                  <a:srgbClr val="334155"/>
                </a:solidFill>
                <a:latin typeface="Inter"/>
                <a:ea typeface="Inter"/>
              </a:rPr>
              <a:t>only</a:t>
            </a:r>
            <a:r>
              <a:rPr lang="it-IT" sz="1500" dirty="0">
                <a:solidFill>
                  <a:srgbClr val="334155"/>
                </a:solidFill>
                <a:latin typeface="Inter"/>
                <a:ea typeface="Inter"/>
              </a:rPr>
              <a:t> </a:t>
            </a:r>
            <a:r>
              <a:rPr lang="it-IT" sz="1500" dirty="0">
                <a:solidFill>
                  <a:schemeClr val="accent5"/>
                </a:solidFill>
                <a:latin typeface="Inter"/>
                <a:ea typeface="Inter"/>
              </a:rPr>
              <a:t>66</a:t>
            </a:r>
            <a:r>
              <a:rPr lang="it-IT" sz="1500" dirty="0">
                <a:solidFill>
                  <a:srgbClr val="334155"/>
                </a:solidFill>
                <a:latin typeface="Inter"/>
                <a:ea typeface="Inter"/>
              </a:rPr>
              <a:t> </a:t>
            </a:r>
            <a:r>
              <a:rPr lang="it-IT" sz="1500" dirty="0">
                <a:solidFill>
                  <a:schemeClr val="accent5"/>
                </a:solidFill>
                <a:latin typeface="Inter"/>
                <a:ea typeface="Inter"/>
              </a:rPr>
              <a:t>False </a:t>
            </a:r>
            <a:r>
              <a:rPr lang="it-IT" sz="1500" dirty="0" err="1">
                <a:solidFill>
                  <a:schemeClr val="accent5"/>
                </a:solidFill>
                <a:latin typeface="Inter"/>
                <a:ea typeface="Inter"/>
              </a:rPr>
              <a:t>Negatives</a:t>
            </a:r>
            <a:r>
              <a:rPr lang="it-IT" sz="1500" dirty="0">
                <a:solidFill>
                  <a:schemeClr val="accent5"/>
                </a:solidFill>
                <a:latin typeface="Inter"/>
                <a:ea typeface="Inter"/>
              </a:rPr>
              <a:t> </a:t>
            </a:r>
            <a:r>
              <a:rPr lang="it-IT" sz="1500" dirty="0" err="1">
                <a:solidFill>
                  <a:srgbClr val="334155"/>
                </a:solidFill>
                <a:latin typeface="Inter"/>
                <a:ea typeface="Inter"/>
              </a:rPr>
              <a:t>across</a:t>
            </a:r>
            <a:r>
              <a:rPr lang="it-IT" sz="1500" dirty="0">
                <a:solidFill>
                  <a:srgbClr val="334155"/>
                </a:solidFill>
                <a:latin typeface="Inter"/>
                <a:ea typeface="Inter"/>
              </a:rPr>
              <a:t> the </a:t>
            </a:r>
            <a:r>
              <a:rPr lang="it-IT" sz="1500" dirty="0" err="1">
                <a:solidFill>
                  <a:srgbClr val="334155"/>
                </a:solidFill>
                <a:latin typeface="Inter"/>
                <a:ea typeface="Inter"/>
              </a:rPr>
              <a:t>entire</a:t>
            </a:r>
            <a:r>
              <a:rPr lang="it-IT" sz="1500" dirty="0">
                <a:solidFill>
                  <a:srgbClr val="334155"/>
                </a:solidFill>
                <a:latin typeface="Inter"/>
                <a:ea typeface="Inter"/>
              </a:rPr>
              <a:t> dataset, </a:t>
            </a:r>
            <a:r>
              <a:rPr lang="it-IT" sz="1500" dirty="0" err="1">
                <a:solidFill>
                  <a:srgbClr val="334155"/>
                </a:solidFill>
                <a:latin typeface="Inter"/>
                <a:ea typeface="Inter"/>
              </a:rPr>
              <a:t>which</a:t>
            </a:r>
            <a:r>
              <a:rPr lang="it-IT" sz="1500" dirty="0">
                <a:solidFill>
                  <a:srgbClr val="334155"/>
                </a:solidFill>
                <a:latin typeface="Inter"/>
                <a:ea typeface="Inter"/>
              </a:rPr>
              <a:t> </a:t>
            </a:r>
            <a:r>
              <a:rPr lang="it-IT" sz="1500" dirty="0" err="1">
                <a:solidFill>
                  <a:srgbClr val="334155"/>
                </a:solidFill>
                <a:latin typeface="Inter"/>
                <a:ea typeface="Inter"/>
              </a:rPr>
              <a:t>is</a:t>
            </a:r>
            <a:r>
              <a:rPr lang="it-IT" sz="1500" dirty="0">
                <a:solidFill>
                  <a:srgbClr val="334155"/>
                </a:solidFill>
                <a:latin typeface="Inter"/>
                <a:ea typeface="Inter"/>
              </a:rPr>
              <a:t> a </a:t>
            </a:r>
            <a:r>
              <a:rPr lang="it-IT" sz="1500" dirty="0" err="1">
                <a:solidFill>
                  <a:srgbClr val="334155"/>
                </a:solidFill>
                <a:latin typeface="Inter"/>
                <a:ea typeface="Inter"/>
              </a:rPr>
              <a:t>critical</a:t>
            </a:r>
            <a:r>
              <a:rPr lang="it-IT" sz="1500" dirty="0">
                <a:solidFill>
                  <a:srgbClr val="334155"/>
                </a:solidFill>
                <a:latin typeface="Inter"/>
                <a:ea typeface="Inter"/>
              </a:rPr>
              <a:t> success for </a:t>
            </a:r>
            <a:r>
              <a:rPr lang="it-IT" sz="1500" dirty="0" err="1">
                <a:solidFill>
                  <a:srgbClr val="334155"/>
                </a:solidFill>
                <a:latin typeface="Inter"/>
                <a:ea typeface="Inter"/>
              </a:rPr>
              <a:t>patient</a:t>
            </a:r>
            <a:r>
              <a:rPr lang="it-IT" sz="1500" dirty="0">
                <a:solidFill>
                  <a:srgbClr val="334155"/>
                </a:solidFill>
                <a:latin typeface="Inter"/>
                <a:ea typeface="Inter"/>
              </a:rPr>
              <a:t> </a:t>
            </a:r>
            <a:r>
              <a:rPr lang="it-IT" sz="1500" dirty="0" err="1">
                <a:solidFill>
                  <a:srgbClr val="334155"/>
                </a:solidFill>
                <a:latin typeface="Inter"/>
                <a:ea typeface="Inter"/>
              </a:rPr>
              <a:t>safety</a:t>
            </a:r>
            <a:r>
              <a:rPr lang="it-IT" sz="1500" dirty="0">
                <a:solidFill>
                  <a:srgbClr val="334155"/>
                </a:solidFill>
                <a:latin typeface="Inter"/>
                <a:ea typeface="Inter"/>
              </a:rPr>
              <a:t>. </a:t>
            </a:r>
            <a:r>
              <a:rPr lang="it-IT" sz="1500" dirty="0" err="1">
                <a:solidFill>
                  <a:srgbClr val="334155"/>
                </a:solidFill>
                <a:latin typeface="Inter"/>
                <a:ea typeface="Inter"/>
              </a:rPr>
              <a:t>Coupled</a:t>
            </a:r>
            <a:r>
              <a:rPr lang="it-IT" sz="1500" dirty="0">
                <a:solidFill>
                  <a:srgbClr val="334155"/>
                </a:solidFill>
                <a:latin typeface="Inter"/>
                <a:ea typeface="Inter"/>
              </a:rPr>
              <a:t> with an impressive ROC-AUC score of 0.958, </a:t>
            </a:r>
            <a:r>
              <a:rPr lang="it-IT" sz="1500" dirty="0" err="1">
                <a:solidFill>
                  <a:srgbClr val="334155"/>
                </a:solidFill>
                <a:latin typeface="Inter"/>
                <a:ea typeface="Inter"/>
              </a:rPr>
              <a:t>these</a:t>
            </a:r>
            <a:r>
              <a:rPr lang="it-IT" sz="1500" dirty="0">
                <a:solidFill>
                  <a:srgbClr val="334155"/>
                </a:solidFill>
                <a:latin typeface="Inter"/>
                <a:ea typeface="Inter"/>
              </a:rPr>
              <a:t> </a:t>
            </a:r>
            <a:r>
              <a:rPr lang="it-IT" sz="1500" dirty="0" err="1">
                <a:solidFill>
                  <a:srgbClr val="334155"/>
                </a:solidFill>
                <a:latin typeface="Inter"/>
                <a:ea typeface="Inter"/>
              </a:rPr>
              <a:t>metrics</a:t>
            </a:r>
            <a:r>
              <a:rPr lang="it-IT" sz="1500" dirty="0">
                <a:solidFill>
                  <a:srgbClr val="334155"/>
                </a:solidFill>
                <a:latin typeface="Inter"/>
                <a:ea typeface="Inter"/>
              </a:rPr>
              <a:t> prove </a:t>
            </a:r>
            <a:r>
              <a:rPr lang="it-IT" sz="1500" dirty="0" err="1">
                <a:solidFill>
                  <a:srgbClr val="334155"/>
                </a:solidFill>
                <a:latin typeface="Inter"/>
                <a:ea typeface="Inter"/>
              </a:rPr>
              <a:t>that</a:t>
            </a:r>
            <a:r>
              <a:rPr lang="it-IT" sz="1500" dirty="0">
                <a:solidFill>
                  <a:srgbClr val="334155"/>
                </a:solidFill>
                <a:latin typeface="Inter"/>
                <a:ea typeface="Inter"/>
              </a:rPr>
              <a:t> the system </a:t>
            </a:r>
            <a:r>
              <a:rPr lang="it-IT" sz="1500" dirty="0" err="1">
                <a:solidFill>
                  <a:srgbClr val="334155"/>
                </a:solidFill>
                <a:latin typeface="Inter"/>
                <a:ea typeface="Inter"/>
              </a:rPr>
              <a:t>is</a:t>
            </a:r>
            <a:r>
              <a:rPr lang="it-IT" sz="1500" dirty="0">
                <a:solidFill>
                  <a:srgbClr val="334155"/>
                </a:solidFill>
                <a:latin typeface="Inter"/>
                <a:ea typeface="Inter"/>
              </a:rPr>
              <a:t> </a:t>
            </a:r>
            <a:r>
              <a:rPr lang="it-IT" sz="1500" dirty="0" err="1">
                <a:solidFill>
                  <a:srgbClr val="334155"/>
                </a:solidFill>
                <a:latin typeface="Inter"/>
                <a:ea typeface="Inter"/>
              </a:rPr>
              <a:t>highly</a:t>
            </a:r>
            <a:r>
              <a:rPr lang="it-IT" sz="1500" dirty="0">
                <a:solidFill>
                  <a:srgbClr val="334155"/>
                </a:solidFill>
                <a:latin typeface="Inter"/>
                <a:ea typeface="Inter"/>
              </a:rPr>
              <a:t> discriminative and </a:t>
            </a:r>
            <a:r>
              <a:rPr lang="it-IT" sz="1500" dirty="0" err="1">
                <a:solidFill>
                  <a:srgbClr val="334155"/>
                </a:solidFill>
                <a:latin typeface="Inter"/>
                <a:ea typeface="Inter"/>
              </a:rPr>
              <a:t>incredibly</a:t>
            </a:r>
            <a:r>
              <a:rPr lang="it-IT" sz="1500" dirty="0">
                <a:solidFill>
                  <a:srgbClr val="334155"/>
                </a:solidFill>
                <a:latin typeface="Inter"/>
                <a:ea typeface="Inter"/>
              </a:rPr>
              <a:t> safe for </a:t>
            </a:r>
            <a:r>
              <a:rPr lang="it-IT" sz="1500" dirty="0" err="1">
                <a:solidFill>
                  <a:srgbClr val="334155"/>
                </a:solidFill>
                <a:latin typeface="Inter"/>
                <a:ea typeface="Inter"/>
              </a:rPr>
              <a:t>real</a:t>
            </a:r>
            <a:r>
              <a:rPr lang="it-IT" sz="1500" dirty="0">
                <a:solidFill>
                  <a:srgbClr val="334155"/>
                </a:solidFill>
                <a:latin typeface="Inter"/>
                <a:ea typeface="Inter"/>
              </a:rPr>
              <a:t>-world preventive medicine.</a:t>
            </a:r>
            <a:endParaRPr sz="1500" dirty="0">
              <a:solidFill>
                <a:srgbClr val="334155"/>
              </a:solidFill>
              <a:latin typeface="Inter"/>
              <a:ea typeface="Inter"/>
            </a:endParaRPr>
          </a:p>
        </p:txBody>
      </p:sp>
      <p:sp>
        <p:nvSpPr>
          <p:cNvPr id="242" name="Google Shape;242;p23"/>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Pipeline Step 6 - Clinical </a:t>
            </a:r>
            <a:r>
              <a:rPr lang="it-IT" sz="3150" b="1" dirty="0" err="1">
                <a:solidFill>
                  <a:srgbClr val="0F172A"/>
                </a:solidFill>
                <a:latin typeface="Poppins"/>
                <a:cs typeface="Poppins"/>
              </a:rPr>
              <a:t>metrics</a:t>
            </a:r>
            <a:r>
              <a:rPr lang="it-IT" sz="3150" b="1" dirty="0">
                <a:solidFill>
                  <a:srgbClr val="0F172A"/>
                </a:solidFill>
                <a:latin typeface="Poppins"/>
                <a:cs typeface="Poppins"/>
              </a:rPr>
              <a:t> &amp; </a:t>
            </a:r>
            <a:r>
              <a:rPr lang="it-IT" sz="3150" b="1" dirty="0" err="1">
                <a:solidFill>
                  <a:srgbClr val="0F172A"/>
                </a:solidFill>
                <a:latin typeface="Poppins"/>
                <a:cs typeface="Poppins"/>
              </a:rPr>
              <a:t>final</a:t>
            </a:r>
            <a:r>
              <a:rPr lang="it-IT" sz="3150" b="1" dirty="0">
                <a:solidFill>
                  <a:srgbClr val="0F172A"/>
                </a:solidFill>
                <a:latin typeface="Poppins"/>
                <a:cs typeface="Poppins"/>
              </a:rPr>
              <a:t> </a:t>
            </a:r>
            <a:r>
              <a:rPr lang="it-IT" sz="3150" b="1" dirty="0" err="1">
                <a:solidFill>
                  <a:srgbClr val="0F172A"/>
                </a:solidFill>
                <a:latin typeface="Poppins"/>
                <a:cs typeface="Poppins"/>
              </a:rPr>
              <a:t>results</a:t>
            </a:r>
            <a:endParaRPr lang="it-IT" sz="3150" b="1" dirty="0">
              <a:solidFill>
                <a:srgbClr val="0F172A"/>
              </a:solidFill>
              <a:latin typeface="Poppins"/>
              <a:cs typeface="Poppins"/>
            </a:endParaRPr>
          </a:p>
          <a:p>
            <a:pPr marL="0" marR="0" lvl="0" indent="0" algn="l" rtl="0">
              <a:lnSpc>
                <a:spcPct val="110000"/>
              </a:lnSpc>
              <a:spcBef>
                <a:spcPts val="0"/>
              </a:spcBef>
              <a:spcAft>
                <a:spcPts val="0"/>
              </a:spcAft>
              <a:buNone/>
            </a:pPr>
            <a:endParaRPr dirty="0"/>
          </a:p>
        </p:txBody>
      </p:sp>
      <p:pic>
        <p:nvPicPr>
          <p:cNvPr id="6" name="Immagine 5">
            <a:extLst>
              <a:ext uri="{FF2B5EF4-FFF2-40B4-BE49-F238E27FC236}">
                <a16:creationId xmlns:a16="http://schemas.microsoft.com/office/drawing/2014/main" id="{08CBBE45-8A90-C668-58D5-2429A62576C2}"/>
              </a:ext>
            </a:extLst>
          </p:cNvPr>
          <p:cNvPicPr>
            <a:picLocks noChangeAspect="1"/>
          </p:cNvPicPr>
          <p:nvPr/>
        </p:nvPicPr>
        <p:blipFill>
          <a:blip r:embed="rId4"/>
          <a:stretch>
            <a:fillRect/>
          </a:stretch>
        </p:blipFill>
        <p:spPr>
          <a:xfrm>
            <a:off x="2029052" y="2880650"/>
            <a:ext cx="8133895" cy="3384448"/>
          </a:xfrm>
          <a:prstGeom prst="rect">
            <a:avLst/>
          </a:prstGeom>
        </p:spPr>
      </p:pic>
      <p:sp>
        <p:nvSpPr>
          <p:cNvPr id="10" name="Rettangolo 9">
            <a:extLst>
              <a:ext uri="{FF2B5EF4-FFF2-40B4-BE49-F238E27FC236}">
                <a16:creationId xmlns:a16="http://schemas.microsoft.com/office/drawing/2014/main" id="{3BA31634-F6FB-56BC-CE45-B46D998EEAAD}"/>
              </a:ext>
            </a:extLst>
          </p:cNvPr>
          <p:cNvSpPr/>
          <p:nvPr/>
        </p:nvSpPr>
        <p:spPr>
          <a:xfrm>
            <a:off x="3352800" y="4650658"/>
            <a:ext cx="196645" cy="2458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4">
          <a:extLst>
            <a:ext uri="{FF2B5EF4-FFF2-40B4-BE49-F238E27FC236}">
              <a16:creationId xmlns:a16="http://schemas.microsoft.com/office/drawing/2014/main" id="{50528494-CBA7-59D5-8884-5F647C296A95}"/>
            </a:ext>
          </a:extLst>
        </p:cNvPr>
        <p:cNvGrpSpPr/>
        <p:nvPr/>
      </p:nvGrpSpPr>
      <p:grpSpPr>
        <a:xfrm>
          <a:off x="0" y="0"/>
          <a:ext cx="0" cy="0"/>
          <a:chOff x="0" y="0"/>
          <a:chExt cx="0" cy="0"/>
        </a:xfrm>
      </p:grpSpPr>
      <p:pic>
        <p:nvPicPr>
          <p:cNvPr id="235" name="Google Shape;235;p23" descr="image.png">
            <a:extLst>
              <a:ext uri="{FF2B5EF4-FFF2-40B4-BE49-F238E27FC236}">
                <a16:creationId xmlns:a16="http://schemas.microsoft.com/office/drawing/2014/main" id="{B4CB6659-66D6-B260-5ED7-F1CAC1D0AF6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6" name="Google Shape;236;p23">
            <a:extLst>
              <a:ext uri="{FF2B5EF4-FFF2-40B4-BE49-F238E27FC236}">
                <a16:creationId xmlns:a16="http://schemas.microsoft.com/office/drawing/2014/main" id="{C8E31863-4D6A-4E59-A8DE-EFA809CAA3E4}"/>
              </a:ext>
            </a:extLst>
          </p:cNvPr>
          <p:cNvSpPr txBox="1"/>
          <p:nvPr/>
        </p:nvSpPr>
        <p:spPr>
          <a:xfrm>
            <a:off x="1190625" y="2786136"/>
            <a:ext cx="10287000" cy="1154162"/>
          </a:xfrm>
          <a:prstGeom prst="rect">
            <a:avLst/>
          </a:prstGeom>
          <a:noFill/>
          <a:ln>
            <a:noFill/>
          </a:ln>
        </p:spPr>
        <p:txBody>
          <a:bodyPr spcFirstLastPara="1" wrap="square" lIns="0" tIns="0" rIns="0" bIns="0" anchor="t" anchorCtr="0">
            <a:spAutoFit/>
          </a:bodyPr>
          <a:lstStyle/>
          <a:p>
            <a:pPr lvl="0"/>
            <a:r>
              <a:rPr lang="it-IT" sz="1500" dirty="0" err="1">
                <a:solidFill>
                  <a:srgbClr val="334155"/>
                </a:solidFill>
                <a:latin typeface="Inter"/>
                <a:ea typeface="Inter"/>
              </a:rPr>
              <a:t>Despite</a:t>
            </a:r>
            <a:r>
              <a:rPr lang="it-IT" sz="1500" dirty="0">
                <a:solidFill>
                  <a:srgbClr val="334155"/>
                </a:solidFill>
                <a:latin typeface="Inter"/>
                <a:ea typeface="Inter"/>
              </a:rPr>
              <a:t> </a:t>
            </a:r>
            <a:r>
              <a:rPr lang="it-IT" sz="1500" dirty="0" err="1">
                <a:solidFill>
                  <a:srgbClr val="334155"/>
                </a:solidFill>
                <a:latin typeface="Inter"/>
                <a:ea typeface="Inter"/>
              </a:rPr>
              <a:t>robust</a:t>
            </a:r>
            <a:r>
              <a:rPr lang="it-IT" sz="1500" dirty="0">
                <a:solidFill>
                  <a:srgbClr val="334155"/>
                </a:solidFill>
                <a:latin typeface="Inter"/>
                <a:ea typeface="Inter"/>
              </a:rPr>
              <a:t> </a:t>
            </a:r>
            <a:r>
              <a:rPr lang="it-IT" sz="1500" dirty="0" err="1">
                <a:solidFill>
                  <a:srgbClr val="334155"/>
                </a:solidFill>
                <a:latin typeface="Inter"/>
                <a:ea typeface="Inter"/>
              </a:rPr>
              <a:t>generalization</a:t>
            </a:r>
            <a:r>
              <a:rPr lang="it-IT" sz="1500" dirty="0">
                <a:solidFill>
                  <a:srgbClr val="334155"/>
                </a:solidFill>
                <a:latin typeface="Inter"/>
                <a:ea typeface="Inter"/>
              </a:rPr>
              <a:t>, the study </a:t>
            </a:r>
            <a:r>
              <a:rPr lang="it-IT" sz="1500" dirty="0" err="1">
                <a:solidFill>
                  <a:srgbClr val="334155"/>
                </a:solidFill>
                <a:latin typeface="Inter"/>
                <a:ea typeface="Inter"/>
              </a:rPr>
              <a:t>faces</a:t>
            </a:r>
            <a:r>
              <a:rPr lang="it-IT" sz="1500" dirty="0">
                <a:solidFill>
                  <a:srgbClr val="334155"/>
                </a:solidFill>
                <a:latin typeface="Inter"/>
                <a:ea typeface="Inter"/>
              </a:rPr>
              <a:t> </a:t>
            </a:r>
            <a:r>
              <a:rPr lang="it-IT" sz="1500" dirty="0" err="1">
                <a:solidFill>
                  <a:srgbClr val="334155"/>
                </a:solidFill>
                <a:latin typeface="Inter"/>
                <a:ea typeface="Inter"/>
              </a:rPr>
              <a:t>limitations</a:t>
            </a:r>
            <a:r>
              <a:rPr lang="it-IT" sz="1500" dirty="0">
                <a:solidFill>
                  <a:srgbClr val="334155"/>
                </a:solidFill>
                <a:latin typeface="Inter"/>
                <a:ea typeface="Inter"/>
              </a:rPr>
              <a:t>, </a:t>
            </a:r>
            <a:r>
              <a:rPr lang="it-IT" sz="1500" dirty="0" err="1">
                <a:solidFill>
                  <a:srgbClr val="334155"/>
                </a:solidFill>
                <a:latin typeface="Inter"/>
                <a:ea typeface="Inter"/>
              </a:rPr>
              <a:t>such</a:t>
            </a:r>
            <a:r>
              <a:rPr lang="it-IT" sz="1500" dirty="0">
                <a:solidFill>
                  <a:srgbClr val="334155"/>
                </a:solidFill>
                <a:latin typeface="Inter"/>
                <a:ea typeface="Inter"/>
              </a:rPr>
              <a:t> </a:t>
            </a:r>
            <a:r>
              <a:rPr lang="it-IT" sz="1500" dirty="0" err="1">
                <a:solidFill>
                  <a:srgbClr val="334155"/>
                </a:solidFill>
                <a:latin typeface="Inter"/>
                <a:ea typeface="Inter"/>
              </a:rPr>
              <a:t>as</a:t>
            </a:r>
            <a:r>
              <a:rPr lang="it-IT" sz="1500" dirty="0">
                <a:solidFill>
                  <a:srgbClr val="334155"/>
                </a:solidFill>
                <a:latin typeface="Inter"/>
                <a:ea typeface="Inter"/>
              </a:rPr>
              <a:t> a small dataset </a:t>
            </a:r>
            <a:r>
              <a:rPr lang="it-IT" sz="1500" dirty="0" err="1">
                <a:solidFill>
                  <a:srgbClr val="334155"/>
                </a:solidFill>
                <a:latin typeface="Inter"/>
                <a:ea typeface="Inter"/>
              </a:rPr>
              <a:t>recorded</a:t>
            </a:r>
            <a:r>
              <a:rPr lang="it-IT" sz="1500" dirty="0">
                <a:solidFill>
                  <a:srgbClr val="334155"/>
                </a:solidFill>
                <a:latin typeface="Inter"/>
                <a:ea typeface="Inter"/>
              </a:rPr>
              <a:t> in </a:t>
            </a:r>
            <a:r>
              <a:rPr lang="it-IT" sz="1500" dirty="0" err="1">
                <a:solidFill>
                  <a:srgbClr val="334155"/>
                </a:solidFill>
                <a:latin typeface="Inter"/>
                <a:ea typeface="Inter"/>
              </a:rPr>
              <a:t>static</a:t>
            </a:r>
            <a:r>
              <a:rPr lang="it-IT" sz="1500" dirty="0">
                <a:solidFill>
                  <a:srgbClr val="334155"/>
                </a:solidFill>
                <a:latin typeface="Inter"/>
                <a:ea typeface="Inter"/>
              </a:rPr>
              <a:t> </a:t>
            </a:r>
            <a:r>
              <a:rPr lang="it-IT" sz="1500" dirty="0" err="1">
                <a:solidFill>
                  <a:srgbClr val="334155"/>
                </a:solidFill>
                <a:latin typeface="Inter"/>
                <a:ea typeface="Inter"/>
              </a:rPr>
              <a:t>laboratory</a:t>
            </a:r>
            <a:r>
              <a:rPr lang="it-IT" sz="1500" dirty="0">
                <a:solidFill>
                  <a:srgbClr val="334155"/>
                </a:solidFill>
                <a:latin typeface="Inter"/>
                <a:ea typeface="Inter"/>
              </a:rPr>
              <a:t> </a:t>
            </a:r>
            <a:r>
              <a:rPr lang="it-IT" sz="1500" dirty="0" err="1">
                <a:solidFill>
                  <a:srgbClr val="334155"/>
                </a:solidFill>
                <a:latin typeface="Inter"/>
                <a:ea typeface="Inter"/>
              </a:rPr>
              <a:t>conditions</a:t>
            </a:r>
            <a:r>
              <a:rPr lang="it-IT" sz="1500" dirty="0">
                <a:solidFill>
                  <a:srgbClr val="334155"/>
                </a:solidFill>
                <a:latin typeface="Inter"/>
                <a:ea typeface="Inter"/>
              </a:rPr>
              <a:t>. </a:t>
            </a:r>
            <a:r>
              <a:rPr lang="it-IT" sz="1500" dirty="0" err="1">
                <a:solidFill>
                  <a:srgbClr val="334155"/>
                </a:solidFill>
                <a:latin typeface="Inter"/>
                <a:ea typeface="Inter"/>
              </a:rPr>
              <a:t>Furthermore</a:t>
            </a:r>
            <a:r>
              <a:rPr lang="it-IT" sz="1500" dirty="0">
                <a:solidFill>
                  <a:srgbClr val="334155"/>
                </a:solidFill>
                <a:latin typeface="Inter"/>
                <a:ea typeface="Inter"/>
              </a:rPr>
              <a:t>, </a:t>
            </a:r>
            <a:r>
              <a:rPr lang="it-IT" sz="1500" dirty="0" err="1">
                <a:solidFill>
                  <a:schemeClr val="accent5"/>
                </a:solidFill>
                <a:latin typeface="Inter"/>
                <a:ea typeface="Inter"/>
              </a:rPr>
              <a:t>subject</a:t>
            </a:r>
            <a:r>
              <a:rPr lang="it-IT" sz="1500" dirty="0">
                <a:solidFill>
                  <a:schemeClr val="accent5"/>
                </a:solidFill>
                <a:latin typeface="Inter"/>
                <a:ea typeface="Inter"/>
              </a:rPr>
              <a:t> S17 </a:t>
            </a:r>
            <a:r>
              <a:rPr lang="it-IT" sz="1500" dirty="0" err="1">
                <a:solidFill>
                  <a:srgbClr val="334155"/>
                </a:solidFill>
                <a:latin typeface="Inter"/>
                <a:ea typeface="Inter"/>
              </a:rPr>
              <a:t>emerged</a:t>
            </a:r>
            <a:r>
              <a:rPr lang="it-IT" sz="1500" dirty="0">
                <a:solidFill>
                  <a:srgbClr val="334155"/>
                </a:solidFill>
                <a:latin typeface="Inter"/>
                <a:ea typeface="Inter"/>
              </a:rPr>
              <a:t> </a:t>
            </a:r>
            <a:r>
              <a:rPr lang="it-IT" sz="1500" dirty="0" err="1">
                <a:solidFill>
                  <a:srgbClr val="334155"/>
                </a:solidFill>
                <a:latin typeface="Inter"/>
                <a:ea typeface="Inter"/>
              </a:rPr>
              <a:t>as</a:t>
            </a:r>
            <a:r>
              <a:rPr lang="it-IT" sz="1500" dirty="0">
                <a:solidFill>
                  <a:srgbClr val="334155"/>
                </a:solidFill>
                <a:latin typeface="Inter"/>
                <a:ea typeface="Inter"/>
              </a:rPr>
              <a:t> a </a:t>
            </a:r>
            <a:r>
              <a:rPr lang="it-IT" sz="1500" dirty="0" err="1">
                <a:solidFill>
                  <a:srgbClr val="334155"/>
                </a:solidFill>
                <a:latin typeface="Inter"/>
                <a:ea typeface="Inter"/>
              </a:rPr>
              <a:t>biological</a:t>
            </a:r>
            <a:r>
              <a:rPr lang="it-IT" sz="1500" dirty="0">
                <a:solidFill>
                  <a:srgbClr val="334155"/>
                </a:solidFill>
                <a:latin typeface="Inter"/>
                <a:ea typeface="Inter"/>
              </a:rPr>
              <a:t> </a:t>
            </a:r>
            <a:r>
              <a:rPr lang="it-IT" sz="1500" dirty="0" err="1">
                <a:solidFill>
                  <a:srgbClr val="334155"/>
                </a:solidFill>
                <a:latin typeface="Inter"/>
                <a:ea typeface="Inter"/>
              </a:rPr>
              <a:t>outlier</a:t>
            </a:r>
            <a:r>
              <a:rPr lang="it-IT" sz="1500" dirty="0">
                <a:solidFill>
                  <a:srgbClr val="334155"/>
                </a:solidFill>
                <a:latin typeface="Inter"/>
                <a:ea typeface="Inter"/>
              </a:rPr>
              <a:t> with </a:t>
            </a:r>
            <a:r>
              <a:rPr lang="it-IT" sz="1500" dirty="0" err="1">
                <a:solidFill>
                  <a:srgbClr val="334155"/>
                </a:solidFill>
                <a:latin typeface="Inter"/>
                <a:ea typeface="Inter"/>
              </a:rPr>
              <a:t>only</a:t>
            </a:r>
            <a:r>
              <a:rPr lang="it-IT" sz="1500" dirty="0">
                <a:solidFill>
                  <a:srgbClr val="334155"/>
                </a:solidFill>
                <a:latin typeface="Inter"/>
                <a:ea typeface="Inter"/>
              </a:rPr>
              <a:t> 42% </a:t>
            </a:r>
            <a:r>
              <a:rPr lang="it-IT" sz="1500" dirty="0" err="1">
                <a:solidFill>
                  <a:srgbClr val="334155"/>
                </a:solidFill>
                <a:latin typeface="Inter"/>
                <a:ea typeface="Inter"/>
              </a:rPr>
              <a:t>accuracy</a:t>
            </a:r>
            <a:r>
              <a:rPr lang="it-IT" sz="1500" dirty="0">
                <a:solidFill>
                  <a:srgbClr val="334155"/>
                </a:solidFill>
                <a:latin typeface="Inter"/>
                <a:ea typeface="Inter"/>
              </a:rPr>
              <a:t>. Future work </a:t>
            </a:r>
            <a:r>
              <a:rPr lang="it-IT" sz="1500" dirty="0" err="1">
                <a:solidFill>
                  <a:srgbClr val="334155"/>
                </a:solidFill>
                <a:latin typeface="Inter"/>
                <a:ea typeface="Inter"/>
              </a:rPr>
              <a:t>will</a:t>
            </a:r>
            <a:r>
              <a:rPr lang="it-IT" sz="1500" dirty="0">
                <a:solidFill>
                  <a:srgbClr val="334155"/>
                </a:solidFill>
                <a:latin typeface="Inter"/>
                <a:ea typeface="Inter"/>
              </a:rPr>
              <a:t> focus on </a:t>
            </a:r>
            <a:r>
              <a:rPr lang="it-IT" sz="1500" dirty="0" err="1">
                <a:solidFill>
                  <a:srgbClr val="334155"/>
                </a:solidFill>
                <a:latin typeface="Inter"/>
                <a:ea typeface="Inter"/>
              </a:rPr>
              <a:t>dynamic</a:t>
            </a:r>
            <a:r>
              <a:rPr lang="it-IT" sz="1500" dirty="0">
                <a:solidFill>
                  <a:srgbClr val="334155"/>
                </a:solidFill>
                <a:latin typeface="Inter"/>
                <a:ea typeface="Inter"/>
              </a:rPr>
              <a:t> transfer learning to </a:t>
            </a:r>
            <a:r>
              <a:rPr lang="it-IT" sz="1500" dirty="0" err="1">
                <a:solidFill>
                  <a:srgbClr val="334155"/>
                </a:solidFill>
                <a:latin typeface="Inter"/>
                <a:ea typeface="Inter"/>
              </a:rPr>
              <a:t>personalize</a:t>
            </a:r>
            <a:r>
              <a:rPr lang="it-IT" sz="1500" dirty="0">
                <a:solidFill>
                  <a:srgbClr val="334155"/>
                </a:solidFill>
                <a:latin typeface="Inter"/>
                <a:ea typeface="Inter"/>
              </a:rPr>
              <a:t> the </a:t>
            </a:r>
            <a:r>
              <a:rPr lang="it-IT" sz="1500" dirty="0" err="1">
                <a:solidFill>
                  <a:srgbClr val="334155"/>
                </a:solidFill>
                <a:latin typeface="Inter"/>
                <a:ea typeface="Inter"/>
              </a:rPr>
              <a:t>algorithm</a:t>
            </a:r>
            <a:r>
              <a:rPr lang="it-IT" sz="1500" dirty="0">
                <a:solidFill>
                  <a:srgbClr val="334155"/>
                </a:solidFill>
                <a:latin typeface="Inter"/>
                <a:ea typeface="Inter"/>
              </a:rPr>
              <a:t> for </a:t>
            </a:r>
            <a:r>
              <a:rPr lang="it-IT" sz="1500" dirty="0" err="1">
                <a:solidFill>
                  <a:srgbClr val="334155"/>
                </a:solidFill>
                <a:latin typeface="Inter"/>
                <a:ea typeface="Inter"/>
              </a:rPr>
              <a:t>such</a:t>
            </a:r>
            <a:r>
              <a:rPr lang="it-IT" sz="1500" dirty="0">
                <a:solidFill>
                  <a:srgbClr val="334155"/>
                </a:solidFill>
                <a:latin typeface="Inter"/>
                <a:ea typeface="Inter"/>
              </a:rPr>
              <a:t> </a:t>
            </a:r>
            <a:r>
              <a:rPr lang="it-IT" sz="1500" dirty="0" err="1">
                <a:solidFill>
                  <a:srgbClr val="334155"/>
                </a:solidFill>
                <a:latin typeface="Inter"/>
                <a:ea typeface="Inter"/>
              </a:rPr>
              <a:t>individuals</a:t>
            </a:r>
            <a:r>
              <a:rPr lang="it-IT" sz="1500" dirty="0">
                <a:solidFill>
                  <a:srgbClr val="334155"/>
                </a:solidFill>
                <a:latin typeface="Inter"/>
                <a:ea typeface="Inter"/>
              </a:rPr>
              <a:t>, and the </a:t>
            </a:r>
            <a:r>
              <a:rPr lang="it-IT" sz="1500" dirty="0" err="1">
                <a:solidFill>
                  <a:srgbClr val="334155"/>
                </a:solidFill>
                <a:latin typeface="Inter"/>
                <a:ea typeface="Inter"/>
              </a:rPr>
              <a:t>integration</a:t>
            </a:r>
            <a:r>
              <a:rPr lang="it-IT" sz="1500" dirty="0">
                <a:solidFill>
                  <a:srgbClr val="334155"/>
                </a:solidFill>
                <a:latin typeface="Inter"/>
                <a:ea typeface="Inter"/>
              </a:rPr>
              <a:t> of </a:t>
            </a:r>
            <a:r>
              <a:rPr lang="it-IT" sz="1500" dirty="0" err="1">
                <a:solidFill>
                  <a:srgbClr val="334155"/>
                </a:solidFill>
                <a:latin typeface="Inter"/>
                <a:ea typeface="Inter"/>
              </a:rPr>
              <a:t>accelerometer</a:t>
            </a:r>
            <a:r>
              <a:rPr lang="it-IT" sz="1500" dirty="0">
                <a:solidFill>
                  <a:srgbClr val="334155"/>
                </a:solidFill>
                <a:latin typeface="Inter"/>
                <a:ea typeface="Inter"/>
              </a:rPr>
              <a:t> data to provide </a:t>
            </a:r>
            <a:r>
              <a:rPr lang="it-IT" sz="1500" dirty="0" err="1">
                <a:solidFill>
                  <a:srgbClr val="334155"/>
                </a:solidFill>
                <a:latin typeface="Inter"/>
                <a:ea typeface="Inter"/>
              </a:rPr>
              <a:t>context</a:t>
            </a:r>
            <a:r>
              <a:rPr lang="it-IT" sz="1500" dirty="0">
                <a:solidFill>
                  <a:srgbClr val="334155"/>
                </a:solidFill>
                <a:latin typeface="Inter"/>
                <a:ea typeface="Inter"/>
              </a:rPr>
              <a:t> </a:t>
            </a:r>
            <a:r>
              <a:rPr lang="it-IT" sz="1500" dirty="0" err="1">
                <a:solidFill>
                  <a:srgbClr val="334155"/>
                </a:solidFill>
                <a:latin typeface="Inter"/>
                <a:ea typeface="Inter"/>
              </a:rPr>
              <a:t>awareness</a:t>
            </a:r>
            <a:r>
              <a:rPr lang="it-IT" sz="1500" dirty="0">
                <a:solidFill>
                  <a:srgbClr val="334155"/>
                </a:solidFill>
                <a:latin typeface="Inter"/>
                <a:ea typeface="Inter"/>
              </a:rPr>
              <a:t>, </a:t>
            </a:r>
            <a:r>
              <a:rPr lang="it-IT" sz="1500" dirty="0" err="1">
                <a:solidFill>
                  <a:srgbClr val="334155"/>
                </a:solidFill>
                <a:latin typeface="Inter"/>
                <a:ea typeface="Inter"/>
              </a:rPr>
              <a:t>helping</a:t>
            </a:r>
            <a:r>
              <a:rPr lang="it-IT" sz="1500" dirty="0">
                <a:solidFill>
                  <a:srgbClr val="334155"/>
                </a:solidFill>
                <a:latin typeface="Inter"/>
                <a:ea typeface="Inter"/>
              </a:rPr>
              <a:t> the smartwatch </a:t>
            </a:r>
            <a:r>
              <a:rPr lang="it-IT" sz="1500" dirty="0" err="1">
                <a:solidFill>
                  <a:srgbClr val="334155"/>
                </a:solidFill>
                <a:latin typeface="Inter"/>
                <a:ea typeface="Inter"/>
              </a:rPr>
              <a:t>distinguish</a:t>
            </a:r>
            <a:r>
              <a:rPr lang="it-IT" sz="1500" dirty="0">
                <a:solidFill>
                  <a:srgbClr val="334155"/>
                </a:solidFill>
                <a:latin typeface="Inter"/>
                <a:ea typeface="Inter"/>
              </a:rPr>
              <a:t> </a:t>
            </a:r>
            <a:r>
              <a:rPr lang="it-IT" sz="1500" dirty="0" err="1">
                <a:solidFill>
                  <a:srgbClr val="334155"/>
                </a:solidFill>
                <a:latin typeface="Inter"/>
                <a:ea typeface="Inter"/>
              </a:rPr>
              <a:t>mental</a:t>
            </a:r>
            <a:r>
              <a:rPr lang="it-IT" sz="1500" dirty="0">
                <a:solidFill>
                  <a:srgbClr val="334155"/>
                </a:solidFill>
                <a:latin typeface="Inter"/>
                <a:ea typeface="Inter"/>
              </a:rPr>
              <a:t> stress from </a:t>
            </a:r>
            <a:r>
              <a:rPr lang="it-IT" sz="1500" dirty="0" err="1">
                <a:solidFill>
                  <a:srgbClr val="334155"/>
                </a:solidFill>
                <a:latin typeface="Inter"/>
                <a:ea typeface="Inter"/>
              </a:rPr>
              <a:t>physical</a:t>
            </a:r>
            <a:r>
              <a:rPr lang="it-IT" sz="1500" dirty="0">
                <a:solidFill>
                  <a:srgbClr val="334155"/>
                </a:solidFill>
                <a:latin typeface="Inter"/>
                <a:ea typeface="Inter"/>
              </a:rPr>
              <a:t> </a:t>
            </a:r>
            <a:r>
              <a:rPr lang="it-IT" sz="1500" dirty="0" err="1">
                <a:solidFill>
                  <a:srgbClr val="334155"/>
                </a:solidFill>
                <a:latin typeface="Inter"/>
                <a:ea typeface="Inter"/>
              </a:rPr>
              <a:t>exertion</a:t>
            </a:r>
            <a:r>
              <a:rPr lang="it-IT" sz="1500" dirty="0">
                <a:solidFill>
                  <a:srgbClr val="334155"/>
                </a:solidFill>
                <a:latin typeface="Inter"/>
                <a:ea typeface="Inter"/>
              </a:rPr>
              <a:t>. </a:t>
            </a:r>
            <a:endParaRPr sz="1500" dirty="0">
              <a:solidFill>
                <a:srgbClr val="334155"/>
              </a:solidFill>
              <a:latin typeface="Inter"/>
              <a:ea typeface="Inter"/>
            </a:endParaRPr>
          </a:p>
        </p:txBody>
      </p:sp>
      <p:pic>
        <p:nvPicPr>
          <p:cNvPr id="240" name="Google Shape;240;p23" descr="image.png">
            <a:extLst>
              <a:ext uri="{FF2B5EF4-FFF2-40B4-BE49-F238E27FC236}">
                <a16:creationId xmlns:a16="http://schemas.microsoft.com/office/drawing/2014/main" id="{C3710BFA-FF0E-7973-093C-B2B1C2838C5B}"/>
              </a:ext>
            </a:extLst>
          </p:cNvPr>
          <p:cNvPicPr preferRelativeResize="0"/>
          <p:nvPr/>
        </p:nvPicPr>
        <p:blipFill rotWithShape="1">
          <a:blip r:embed="rId4">
            <a:alphaModFix/>
          </a:blip>
          <a:srcRect/>
          <a:stretch/>
        </p:blipFill>
        <p:spPr>
          <a:xfrm>
            <a:off x="714375" y="3363217"/>
            <a:ext cx="247650" cy="257175"/>
          </a:xfrm>
          <a:prstGeom prst="rect">
            <a:avLst/>
          </a:prstGeom>
          <a:noFill/>
          <a:ln>
            <a:noFill/>
          </a:ln>
        </p:spPr>
      </p:pic>
      <p:sp>
        <p:nvSpPr>
          <p:cNvPr id="242" name="Google Shape;242;p23">
            <a:extLst>
              <a:ext uri="{FF2B5EF4-FFF2-40B4-BE49-F238E27FC236}">
                <a16:creationId xmlns:a16="http://schemas.microsoft.com/office/drawing/2014/main" id="{2F6E3699-56A5-805F-FFD8-0CCDB1C439A6}"/>
              </a:ext>
            </a:extLst>
          </p:cNvPr>
          <p:cNvSpPr txBox="1"/>
          <p:nvPr/>
        </p:nvSpPr>
        <p:spPr>
          <a:xfrm>
            <a:off x="904875" y="523875"/>
            <a:ext cx="11101387" cy="1066446"/>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Pipeline step 7 - </a:t>
            </a:r>
            <a:r>
              <a:rPr lang="it-IT" sz="3150" b="1" dirty="0" err="1">
                <a:solidFill>
                  <a:srgbClr val="0F172A"/>
                </a:solidFill>
                <a:latin typeface="Poppins"/>
                <a:cs typeface="Poppins"/>
              </a:rPr>
              <a:t>Limitations</a:t>
            </a:r>
            <a:r>
              <a:rPr lang="it-IT" sz="3150" b="1" dirty="0">
                <a:solidFill>
                  <a:srgbClr val="0F172A"/>
                </a:solidFill>
                <a:latin typeface="Poppins"/>
                <a:cs typeface="Poppins"/>
              </a:rPr>
              <a:t> &amp; future work</a:t>
            </a:r>
          </a:p>
          <a:p>
            <a:pPr marL="0" marR="0" lvl="0" indent="0" algn="l" rtl="0">
              <a:lnSpc>
                <a:spcPct val="110000"/>
              </a:lnSpc>
              <a:spcBef>
                <a:spcPts val="0"/>
              </a:spcBef>
              <a:spcAft>
                <a:spcPts val="0"/>
              </a:spcAft>
              <a:buNone/>
            </a:pPr>
            <a:r>
              <a:rPr lang="en-US" sz="3150" b="1" dirty="0">
                <a:solidFill>
                  <a:srgbClr val="0F172A"/>
                </a:solidFill>
                <a:latin typeface="Poppins"/>
                <a:cs typeface="Poppins"/>
                <a:sym typeface="Poppins"/>
              </a:rPr>
              <a:t> </a:t>
            </a:r>
            <a:endParaRPr dirty="0"/>
          </a:p>
        </p:txBody>
      </p:sp>
      <p:pic>
        <p:nvPicPr>
          <p:cNvPr id="3" name="Immagine 2">
            <a:extLst>
              <a:ext uri="{FF2B5EF4-FFF2-40B4-BE49-F238E27FC236}">
                <a16:creationId xmlns:a16="http://schemas.microsoft.com/office/drawing/2014/main" id="{4524530F-749F-E3B4-398B-721A5F6D38ED}"/>
              </a:ext>
            </a:extLst>
          </p:cNvPr>
          <p:cNvPicPr>
            <a:picLocks noChangeAspect="1"/>
          </p:cNvPicPr>
          <p:nvPr/>
        </p:nvPicPr>
        <p:blipFill>
          <a:blip r:embed="rId5"/>
          <a:stretch>
            <a:fillRect/>
          </a:stretch>
        </p:blipFill>
        <p:spPr>
          <a:xfrm>
            <a:off x="4387561" y="4085694"/>
            <a:ext cx="3779694" cy="2519795"/>
          </a:xfrm>
          <a:prstGeom prst="rect">
            <a:avLst/>
          </a:prstGeom>
        </p:spPr>
      </p:pic>
    </p:spTree>
    <p:extLst>
      <p:ext uri="{BB962C8B-B14F-4D97-AF65-F5344CB8AC3E}">
        <p14:creationId xmlns:p14="http://schemas.microsoft.com/office/powerpoint/2010/main" val="2334742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9" name="Google Shape;249;p24"/>
          <p:cNvSpPr txBox="1"/>
          <p:nvPr/>
        </p:nvSpPr>
        <p:spPr>
          <a:xfrm>
            <a:off x="445293" y="2399853"/>
            <a:ext cx="11301412"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dirty="0" err="1">
                <a:solidFill>
                  <a:srgbClr val="2DD4BF"/>
                </a:solidFill>
                <a:latin typeface="Poppins"/>
                <a:ea typeface="Poppins"/>
                <a:cs typeface="Poppins"/>
                <a:sym typeface="Poppins"/>
              </a:rPr>
              <a:t>SafeStress</a:t>
            </a:r>
            <a:r>
              <a:rPr lang="en-US" sz="1800" b="0" i="0" u="none" strike="noStrike" cap="none" dirty="0">
                <a:solidFill>
                  <a:srgbClr val="2DD4BF"/>
                </a:solidFill>
                <a:latin typeface="Poppins"/>
                <a:ea typeface="Poppins"/>
                <a:cs typeface="Poppins"/>
                <a:sym typeface="Poppins"/>
              </a:rPr>
              <a:t>-ML balances extreme computational efficiency with clinical safety and EU AI Act requirements.</a:t>
            </a:r>
            <a:endParaRPr dirty="0"/>
          </a:p>
        </p:txBody>
      </p:sp>
      <p:sp>
        <p:nvSpPr>
          <p:cNvPr id="250" name="Google Shape;250;p24"/>
          <p:cNvSpPr txBox="1"/>
          <p:nvPr/>
        </p:nvSpPr>
        <p:spPr>
          <a:xfrm>
            <a:off x="1622937" y="3851053"/>
            <a:ext cx="857250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dirty="0">
                <a:latin typeface="Inter SemiBold"/>
                <a:ea typeface="Inter SemiBold"/>
                <a:sym typeface="Inter SemiBold"/>
              </a:rPr>
              <a:t>Contact and </a:t>
            </a:r>
            <a:r>
              <a:rPr lang="en-US" sz="1350" dirty="0" err="1">
                <a:latin typeface="Inter SemiBold"/>
                <a:ea typeface="Inter SemiBold"/>
                <a:sym typeface="Inter SemiBold"/>
              </a:rPr>
              <a:t>github</a:t>
            </a:r>
            <a:r>
              <a:rPr lang="en-US" sz="1350" dirty="0">
                <a:latin typeface="Inter SemiBold"/>
                <a:ea typeface="Inter SemiBold"/>
                <a:sym typeface="Inter SemiBold"/>
              </a:rPr>
              <a:t> link:</a:t>
            </a:r>
            <a:endParaRPr dirty="0"/>
          </a:p>
        </p:txBody>
      </p:sp>
      <p:pic>
        <p:nvPicPr>
          <p:cNvPr id="251" name="Google Shape;251;p24" descr="image.png"/>
          <p:cNvPicPr preferRelativeResize="0"/>
          <p:nvPr/>
        </p:nvPicPr>
        <p:blipFill rotWithShape="1">
          <a:blip r:embed="rId4">
            <a:alphaModFix/>
          </a:blip>
          <a:srcRect/>
          <a:stretch/>
        </p:blipFill>
        <p:spPr>
          <a:xfrm>
            <a:off x="2714625" y="4925722"/>
            <a:ext cx="266700" cy="266700"/>
          </a:xfrm>
          <a:prstGeom prst="rect">
            <a:avLst/>
          </a:prstGeom>
          <a:noFill/>
          <a:ln>
            <a:noFill/>
          </a:ln>
        </p:spPr>
      </p:pic>
      <p:sp>
        <p:nvSpPr>
          <p:cNvPr id="252" name="Google Shape;252;p24"/>
          <p:cNvSpPr txBox="1"/>
          <p:nvPr/>
        </p:nvSpPr>
        <p:spPr>
          <a:xfrm>
            <a:off x="2981325" y="4860023"/>
            <a:ext cx="2505075" cy="3323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dirty="0">
                <a:solidFill>
                  <a:srgbClr val="475569"/>
                </a:solidFill>
                <a:latin typeface="Inter Medium"/>
                <a:ea typeface="Inter Medium"/>
                <a:cs typeface="Inter Medium"/>
                <a:sym typeface="Inter Medium"/>
              </a:rPr>
              <a:t>f.picca4@studenti.uniba.it</a:t>
            </a:r>
            <a:endParaRPr dirty="0"/>
          </a:p>
        </p:txBody>
      </p:sp>
      <p:pic>
        <p:nvPicPr>
          <p:cNvPr id="253" name="Google Shape;253;p24" descr="image.png"/>
          <p:cNvPicPr preferRelativeResize="0"/>
          <p:nvPr/>
        </p:nvPicPr>
        <p:blipFill rotWithShape="1">
          <a:blip r:embed="rId5">
            <a:alphaModFix/>
          </a:blip>
          <a:srcRect/>
          <a:stretch/>
        </p:blipFill>
        <p:spPr>
          <a:xfrm>
            <a:off x="6156613" y="4883943"/>
            <a:ext cx="257175" cy="266700"/>
          </a:xfrm>
          <a:prstGeom prst="rect">
            <a:avLst/>
          </a:prstGeom>
          <a:noFill/>
          <a:ln>
            <a:noFill/>
          </a:ln>
        </p:spPr>
      </p:pic>
      <p:sp>
        <p:nvSpPr>
          <p:cNvPr id="254" name="Google Shape;254;p24"/>
          <p:cNvSpPr txBox="1"/>
          <p:nvPr/>
        </p:nvSpPr>
        <p:spPr>
          <a:xfrm>
            <a:off x="6705602" y="4716012"/>
            <a:ext cx="2660728" cy="615553"/>
          </a:xfrm>
          <a:prstGeom prst="rect">
            <a:avLst/>
          </a:prstGeom>
          <a:noFill/>
          <a:ln>
            <a:noFill/>
          </a:ln>
        </p:spPr>
        <p:txBody>
          <a:bodyPr spcFirstLastPara="1" wrap="square" lIns="0" tIns="0" rIns="0" bIns="0" anchor="t" anchorCtr="0">
            <a:spAutoFit/>
          </a:bodyPr>
          <a:lstStyle/>
          <a:p>
            <a:pPr lvl="0" algn="ctr">
              <a:lnSpc>
                <a:spcPct val="160000"/>
              </a:lnSpc>
            </a:pPr>
            <a:r>
              <a:rPr lang="en-US" sz="1250" dirty="0">
                <a:solidFill>
                  <a:srgbClr val="475569"/>
                </a:solidFill>
                <a:latin typeface="Inter Medium"/>
                <a:ea typeface="Inter Medium"/>
                <a:cs typeface="Inter Medium"/>
                <a:sym typeface="Inter Medium"/>
              </a:rPr>
              <a:t>https://github.com/FedericaPicca/ML_project_SAFESTRESS-ML.git</a:t>
            </a:r>
            <a:endParaRPr sz="1250" dirty="0"/>
          </a:p>
        </p:txBody>
      </p:sp>
      <p:sp>
        <p:nvSpPr>
          <p:cNvPr id="255" name="Google Shape;255;p24"/>
          <p:cNvSpPr txBox="1"/>
          <p:nvPr/>
        </p:nvSpPr>
        <p:spPr>
          <a:xfrm>
            <a:off x="2950606" y="973165"/>
            <a:ext cx="6290786" cy="1327286"/>
          </a:xfrm>
          <a:prstGeom prst="rect">
            <a:avLst/>
          </a:prstGeom>
          <a:noFill/>
          <a:ln>
            <a:noFill/>
          </a:ln>
        </p:spPr>
        <p:txBody>
          <a:bodyPr spcFirstLastPara="1" wrap="square" lIns="0" tIns="0" rIns="0" bIns="0" anchor="t" anchorCtr="0">
            <a:spAutoFit/>
          </a:bodyPr>
          <a:lstStyle/>
          <a:p>
            <a:pPr marL="0" marR="0" lvl="0" indent="0" algn="ctr" rtl="0">
              <a:lnSpc>
                <a:spcPct val="114986"/>
              </a:lnSpc>
              <a:spcBef>
                <a:spcPts val="0"/>
              </a:spcBef>
              <a:spcAft>
                <a:spcPts val="0"/>
              </a:spcAft>
              <a:buNone/>
            </a:pPr>
            <a:r>
              <a:rPr lang="en-US" sz="3750" b="1" dirty="0">
                <a:solidFill>
                  <a:srgbClr val="FFFFFF"/>
                </a:solidFill>
                <a:latin typeface="Poppins"/>
                <a:cs typeface="Poppins"/>
                <a:sym typeface="Poppins"/>
              </a:rPr>
              <a:t>THANK YOU FOR THE ATTENTION</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35505</TotalTime>
  <Words>1532</Words>
  <Application>Microsoft Office PowerPoint</Application>
  <PresentationFormat>Widescreen</PresentationFormat>
  <Paragraphs>79</Paragraphs>
  <Slides>17</Slides>
  <Notes>17</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17</vt:i4>
      </vt:variant>
    </vt:vector>
  </HeadingPairs>
  <TitlesOfParts>
    <vt:vector size="26" baseType="lpstr">
      <vt:lpstr>Poppins</vt:lpstr>
      <vt:lpstr>Cambria Math</vt:lpstr>
      <vt:lpstr>Inter</vt:lpstr>
      <vt:lpstr>Inter SemiBold</vt:lpstr>
      <vt:lpstr>Arial</vt:lpstr>
      <vt:lpstr>Century Gothic</vt:lpstr>
      <vt:lpstr>Inter Medium</vt:lpstr>
      <vt:lpstr>Wingdings 3</vt:lpstr>
      <vt:lpstr>Ione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Federica Picca</dc:creator>
  <cp:lastModifiedBy>PICCA FEDERICA</cp:lastModifiedBy>
  <cp:revision>13</cp:revision>
  <dcterms:modified xsi:type="dcterms:W3CDTF">2026-09-22T13:32:49Z</dcterms:modified>
</cp:coreProperties>
</file>